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21060b7-52a5-bf7c-6255-18f18e4a638d}">
          <p14:sldIdLst>
            <p14:sldId id="256"/>
            <p14:sldId id="257"/>
            <p14:sldId id="258"/>
            <p14:sldId id="259"/>
          </p14:sldIdLst>
        </p14:section>
        <p14:section name="Demo" id="{c57c601e-85f2-8336-e47d-3f8995dc1bc3}">
          <p14:sldIdLst>
            <p14:sldId id="260"/>
          </p14:sldIdLst>
        </p14:section>
        <p14:section name="Demo screens" id="{eb9a3bc4-31c7-a7ae-afdb-6b13098c6e68}">
          <p14:sldIdLst>
            <p14:sldId id="261"/>
            <p14:sldId id="262"/>
            <p14:sldId id="263"/>
          </p14:sldIdLst>
        </p14:section>
        <p14:section name="Trust and delivery" id="{6686395c-60b6-679f-1a06-1dbe9a940f0c}">
          <p14:sldIdLst>
            <p14:sldId id="264"/>
            <p14:sldId id="265"/>
            <p14:sldId id="269"/>
          </p14:sldIdLst>
        </p14:section>
        <p14:section name="Value and decision" id="{dfc1cf43-36c4-6d29-ad0b-e44df9feba6a}">
          <p14:sldIdLst>
            <p14:sldId id="266"/>
            <p14:sldId id="267"/>
            <p14:sldId id="268"/>
          </p14:sldIdLst>
        </p14:section>
        <p14:section name="Appendix" id="{2a8523cc-594b-54f1-30f8-0aa311dedfd1}">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 Let the slide sit for three seconds. Then, quietly.]
Every advisor in this room has done the same thing.
You finish a meeting. The customer shakes your hand. You walk to the car. And somewhere between the lift and the car park, half of what you just heard begins to fade.
Then comes the evening. The notes. The fact-find. The record of advice. The follow-up.
We built something for that evening. It's called Voice Insights.
And I'm going to show it to you. Not on a slide. Live.
[Timing: 0:00 –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thing about advice.
The conversation is the valuable part. The paperwork is the tax you pay for having it.
Look at the five things on this slide. Notes. The fact-find. The record of advice. The follow-up. The CRM update. Every one of them is the advisor, alone, typing, trying to remember.
We assumed about forty-five minutes of that per case. I want to be careful here: that is an assumption. It is not a measurement. Measuring it properly is the first thing the pilot does, and I'll come back to that.
But you don't need a stopwatch to know that this is the wrong place for a trained advisor to spend the evening.
[Timing: 0:30 –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asked a simple question. What if the conversation was the work?
Not a recording of it. Not a transcript nobody reads. The work itself.
Three words. Capture. Analyse. Equip.
Capture: the advisor talks. In English, Mandarin, Malay or Tamil. Naturally. The way you'd brief a colleague.
Analyse: eleven specialist agents build one picture of the customer, with sources.
Equip: the paperwork is drafted. The advisor reviews it. The advisor signs it off.
That's it. Talk, and the work is done. The advisor is still the hero. We just took the typing away.
[Timing: 1:15 –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story. Because the best part of this product is something we took out.
Our first demo had an AI host. Juno spoke to the customer. It was clever. People were impressed.
And then someone said something simple. "When the advisor is in the room, the customer will prefer the advisor."
They were right. Of course they were.
So we did the hard thing. We said no. Juno left the room.
Today, Juno doesn't talk to customers at all. Juno works for the advisor. After the meeting, the advisor talks. Juno listens, says what it understood, and asks a few short questions about what's missing. At most five. Then it reads it back.
It's a better product because of what it doesn't do.
Let me show you.
[Timing: 2:00 – 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app. Light theme. Headphones on. Wait for the room to settle.]
This is the whole demo. Three acts. Six minutes.
Act one: the advisor debriefs with Juno.
Act two: the advisor signs off. Not the AI. The advisor.
Act three: one more thing.
[Full demo script, with the exact words to say and what to do on screen, is in Speaker-Notes.md. If the demo fails, go to slides 6, 7 and 8: they show the same three screens.]
[Timing: 3:00 – 9:15  (demo: 6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only if the live demo is not possible, or as the recap in the pre-read.]
This is the debrief. On the right, the fact-find ledger. Every fact Juno has, with the words the advisor used, quoted underneath. Nothing is guessed. If it isn't in the notes, it isn't in the ledger.
On the left, Juno has just heard the advisor say a customer will "definitely be approved". It stops. It says: that sounds like a promise. Shall I record it as "discussed likelihood" instead?
A tired advisor at nine at night would miss that. Juno doesn't get tired.
And look at the dots: question one of up to five. The advisor can skip, or say "that's enough", at any moment.
[Timing: Backup / pre-read (skip if you demoed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Same screen as act two.]
This is the screen I care about most. Because this is where the advisor takes control.
What was said, on the left. Names and numbers underlined, because speech recognition is weakest exactly there. Amber means check it. Green means confirmed. And red: a promise the advisor made that needs to be put right.
On the right, the facts to confirm in one tap. And what is still open in the fact-find.
At the top: one button. "Approve and prepare the pack". Juno cannot press it. Nothing can press it except a person.
That is the design principle of the whole product. The AI proposes. The advisor decides.
[Timing: Backup / pre-read (skip if you demoed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Same screen as act three.]
One more thing.
You've just debriefed a customer. Next week you meet them again. What if you could practise that meeting first?
Juno briefs you in under a minute. Who you're seeing. What matters to them. What you said that needs correcting. How to open.
Then Juno plays the customer. Built only from what you told it. She speaks. You answer. And the moment you say something you shouldn't, "I guarantee", a coach flags it on screen, in front of you, and the customer reacts the way a real customer would.
At the end, coach's notes. What landed. What you missed. What to say instead.
It is training. It is clearly labelled a simulation. Nothing is saved. Nothing is sent. And it is the one thing in this app that nobody has asked us for, and everybody wants.
[Timing: Backup / pre-read (skip if you demoed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slides.]
Now. The question every one of you is already asking. Can we trust it?
So let me be plain about how it's built.
Juno speaks only to the advisor. Never to the customer.
It never quotes a price or a return, and it never pushes a product.
It says "suggest". Never "recommend". Relevance in words, never a percentage. That follows the MAS wording guidance.
Only a person can start the analysis. The button ignores anything that isn't a real human click.
Every name and number is confirmed on screen.
And nothing is sent to a customer automatically. Drafts only.
I want to be honest about one thing. These controls work in the prototype. They are pilot-grade, not finished. Compliance, Security and Data Privacy review is part of the pilot. It is not an afterthought.
[Timing: 9:15 – 10:15]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technologists in the room, one slide. And it's deliberately boring.
A browser. An API. Azure OpenAI for speech, reasoning and voice. PostgreSQL with vector search for the profiles and the product documents. Redis for sessions. Containers on Azure.
No exotic bets. Standard parts, which means it scales by adding capacity, not by redesign.
Two things I'd point to. First: eleven agents, three of them running in parallel, and every step's input and output is stored. So it can be audited afterwards. Second: it's already built on our product documents, so every suggestion carries its source.
The real work of the pilot is not inventing this. It's moving it into our environment and hardening it.
[Timing: 10:15 – 11:00]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will we know it works? Not with a feeling. With six numbers.
Time from meeting to documented advice: at least fifty percent lower than the baseline.
Follow-ups sent within twenty-four hours: ninety percent of cases.
Fact-find completeness: at least eighty percent.
Advice packs signed off by an advisor: one hundred percent. No pack used unsigned. Ever.
Advisor satisfaction: four out of five or better.
And cost to run a conversation: under one Singapore dollar.
These are proposed targets, to be agreed with you. And the baseline comes first. We measure what advisors do today, with the advisors who will use it. If we can't beat that, we say so.
[Timing: 11:00 – 12:00]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CFO. I'll give you the numbers, and I'll tell you what each one is.
On the left: an illustration. Two hundred advisors, eight cases a month, forty-five minutes each. That's twelve hundred hours a month. About seven and a half full-time equivalents back with customers. That is an example. It is not a forecast. The pilot replaces every input with a measured one.
On the right: what it costs. Running a conversation: about thirty-five to sixty Singapore cents. That is an estimate from list prices. The proof-of-concept planning range is two hundred forty to three hundred fifty thousand, mostly people. If the team comes from existing AIA staff, the extra cash is roughly thirty-four to seventy-four thousand.
Every figure on this slide is a planning input for Finance to confirm. I would rather you trust a modest number than doubt a big one.
[Timing: 12:00 – 13:15]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need from you? Three decisions.
One. Approve a controlled pilot. Ten to twenty advisors, measured against a baseline.
Two. Name owners in Compliance, Legal, Security and Data Privacy. This is not a technology problem waiting for permission. It is a trust problem, and trust is built with the people whose job it is to protect it.
Three. Confirm the Azure region, and release the advisors.
Where are we today? A working prototype. Not a slide. A thing you just watched. Where do we go? We measure, we review, we harden. And then, only if it earns it, CRM, more products, more markets.
[Timing: 13:15 – 14:15]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clicking. Let the slide stand. Slow down.]
The best technology disappears.
When it works, the advisor doesn't think about it. The advisor thinks about the customer. About the father with diabetes. About the child who needs a university place. About the promise that must be kept, and the one that must never be made.
That is what Voice Insights is for. Not to replace the advisor. To give the advisor back the one thing no technology can manufacture. Attention.
Capture. Analyse. Equip.
Thank you.
[Stop. Do not fill the silence. Take questions.]
[Timing: 14:15 – 15:00]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Use when asked "what could go wrong?"]
The honest answer is: several things, and we have a plan for each.
The one that matters most is compliance. And the strongest mitigation is a design decision: Juno no longer speaks to customers at all. It speaks only to the advisor, and only asks and reads back.
Second is personal data. The advisor's notes still describe a customer, so privacy assessment, retention and advisor-side consent practice are agreed with Data Privacy before the pilot.
Third is mishearing: names, accents, mixed-language speech. That is why every fact is confirmed on screen before anything is used.
And adoption. If advisors find it slower than dictating, they will not use it. That is why questions are capped at five, always skippable, and why the pilot compares both modes on time and completeness.
[Timing: Appendix: use in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Use when asked "how real is this?"]
I'll be exact about where we are.
Built and demonstrated: three ways to capture a conversation, the Juno debrief with the fact-find ledger, the sign-off screen, Dress Rehearsal, the eleven-agent analysis and the advice pack, drafts in four languages, and an admin dashboard.
Tested: scripted spoken debriefs and rehearsals, in English, with a synthetic voice. That is a prototype test, not a pilot.
Not yet done: testing with real advisors. Native-speaker review of Mandarin, Malay and Tamil wording. Formal Compliance, Security and privacy review. CRM write-back. Measured time savings. Load testing.
And one practical note. Juno takes a few seconds to answer, and Azure OpenAI occasionally stalls, so the system retries. In a noisy room it is slower. Use a quiet room and headphones.
[Timing: Appendix: use in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Short, honest answers. The full set is in Speaker-Notes.md.]
Is this "advice" under MAS rules? No. It produces suggestions for the advisor to review. The advisor decides. Compliance should still review it formally.
Can it make things up? It is restricted to the customer's file and our product documents, and statements without a source are marked. It is a pilot-grade control, not a finished one.
What is the business value? I have not measured it yet. I would not quote a number today. That is what the pilot is for.
Why not a general chatbot? It is not tied to our customer file or our product documents, it shows no sources, and it does not produce our paperwork.
[Timing: Appendix: use in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pic>
        <p:nvPicPr>
          <p:cNvPr id="2" name="Image 0" descr="/Users/praveenkumarthangaraj/Documents/CobaltIngestion/voice-insights-azureapi/docs/presentation/assets/aia-voice-insights-wordmark-red.png">    </p:cNvPr>
          <p:cNvPicPr>
            <a:picLocks noChangeAspect="1"/>
          </p:cNvPicPr>
          <p:nvPr/>
        </p:nvPicPr>
        <p:blipFill>
          <a:blip r:embed="rId1"/>
          <a:stretch>
            <a:fillRect/>
          </a:stretch>
        </p:blipFill>
        <p:spPr>
          <a:xfrm>
            <a:off x="731520" y="6355080"/>
            <a:ext cx="1737360" cy="144475"/>
          </a:xfrm>
          <a:prstGeom prst="rect">
            <a:avLst/>
          </a:prstGeom>
        </p:spPr>
      </p:pic>
      <p:sp>
        <p:nvSpPr>
          <p:cNvPr id="3" name="Text 0"/>
          <p:cNvSpPr/>
          <p:nvPr>
            <p:ph idx="101" type="title" hasCustomPrompt="1"/>
          </p:nvPr>
        </p:nvSpPr>
        <p:spPr>
          <a:xfrm>
            <a:off x="731520" y="502920"/>
            <a:ext cx="10728655" cy="1234440"/>
          </a:xfrm>
          <a:prstGeom prst="rect">
            <a:avLst/>
          </a:prstGeom>
          <a:noFill/>
          <a:ln/>
        </p:spPr>
        <p:txBody>
          <a:bodyPr wrap="square" rtlCol="0"/>
          <a:lstStyle>
            <a:lvl1pPr algn="l" indent="0" marL="0">
              <a:buNone/>
              <a:defRPr lang="en-US" sz="3600" b="1" dirty="0">
                <a:solidFill>
                  <a:schemeClr val="tx1"/>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E73"/>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D1D1F"/>
        </a:solidFill>
      </p:bgPr>
    </p:bg>
    <p:spTree>
      <p:nvGrpSpPr>
        <p:cNvPr id="1" name=""/>
        <p:cNvGrpSpPr/>
        <p:nvPr/>
      </p:nvGrpSpPr>
      <p:grpSpPr>
        <a:xfrm>
          <a:off x="0" y="0"/>
          <a:ext cx="0" cy="0"/>
          <a:chOff x="0" y="0"/>
          <a:chExt cx="0" cy="0"/>
        </a:xfrm>
      </p:grpSpPr>
      <p:pic>
        <p:nvPicPr>
          <p:cNvPr id="2" name="Image 0" descr="/Users/praveenkumarthangaraj/Documents/CobaltIngestion/voice-insights-azureapi/docs/presentation/assets/aia-voice-insights-wordmark-white.png">    </p:cNvPr>
          <p:cNvPicPr>
            <a:picLocks noChangeAspect="1"/>
          </p:cNvPicPr>
          <p:nvPr/>
        </p:nvPicPr>
        <p:blipFill>
          <a:blip r:embed="rId1"/>
          <a:stretch>
            <a:fillRect/>
          </a:stretch>
        </p:blipFill>
        <p:spPr>
          <a:xfrm>
            <a:off x="731520" y="6355080"/>
            <a:ext cx="1737360" cy="144475"/>
          </a:xfrm>
          <a:prstGeom prst="rect">
            <a:avLst/>
          </a:prstGeom>
        </p:spPr>
      </p:pic>
      <p:sp>
        <p:nvSpPr>
          <p:cNvPr id="3" name="Text 0"/>
          <p:cNvSpPr/>
          <p:nvPr>
            <p:ph idx="101" type="title" hasCustomPrompt="1"/>
          </p:nvPr>
        </p:nvSpPr>
        <p:spPr>
          <a:xfrm>
            <a:off x="731520" y="502920"/>
            <a:ext cx="10728655" cy="1234440"/>
          </a:xfrm>
          <a:prstGeom prst="rect">
            <a:avLst/>
          </a:prstGeom>
          <a:noFill/>
          <a:ln/>
        </p:spPr>
        <p:txBody>
          <a:bodyPr wrap="square" rtlCol="0"/>
          <a:lstStyle>
            <a:lvl1pPr algn="l" indent="0" marL="0">
              <a:buNone/>
              <a:defRPr lang="en-US" sz="3600" b="1" dirty="0">
                <a:solidFill>
                  <a:schemeClr val="bg1"/>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1A1A6"/>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PLIT">
    <p:bg>
      <p:bgPr>
        <a:solidFill>
          <a:srgbClr val="FFFFFF"/>
        </a:solidFill>
      </p:bgPr>
    </p:bg>
    <p:spTree>
      <p:nvGrpSpPr>
        <p:cNvPr id="1" name=""/>
        <p:cNvGrpSpPr/>
        <p:nvPr/>
      </p:nvGrpSpPr>
      <p:grpSpPr>
        <a:xfrm>
          <a:off x="0" y="0"/>
          <a:ext cx="0" cy="0"/>
          <a:chOff x="0" y="0"/>
          <a:chExt cx="0" cy="0"/>
        </a:xfrm>
      </p:grpSpPr>
      <p:pic>
        <p:nvPicPr>
          <p:cNvPr id="2" name="Image 0" descr="/Users/praveenkumarthangaraj/Documents/CobaltIngestion/voice-insights-azureapi/docs/presentation/assets/aia-voice-insights-wordmark-red.png">    </p:cNvPr>
          <p:cNvPicPr>
            <a:picLocks noChangeAspect="1"/>
          </p:cNvPicPr>
          <p:nvPr/>
        </p:nvPicPr>
        <p:blipFill>
          <a:blip r:embed="rId1"/>
          <a:stretch>
            <a:fillRect/>
          </a:stretch>
        </p:blipFill>
        <p:spPr>
          <a:xfrm>
            <a:off x="731520" y="6355080"/>
            <a:ext cx="1737360" cy="144475"/>
          </a:xfrm>
          <a:prstGeom prst="rect">
            <a:avLst/>
          </a:prstGeom>
        </p:spPr>
      </p:pic>
      <p:sp>
        <p:nvSpPr>
          <p:cNvPr id="3" name="Text 0"/>
          <p:cNvSpPr/>
          <p:nvPr>
            <p:ph idx="101" type="title" hasCustomPrompt="1"/>
          </p:nvPr>
        </p:nvSpPr>
        <p:spPr>
          <a:xfrm>
            <a:off x="731520" y="502920"/>
            <a:ext cx="3840480" cy="2194560"/>
          </a:xfrm>
          <a:prstGeom prst="rect">
            <a:avLst/>
          </a:prstGeom>
          <a:noFill/>
          <a:ln/>
        </p:spPr>
        <p:txBody>
          <a:bodyPr wrap="square" rtlCol="0"/>
          <a:lstStyle>
            <a:lvl1pPr algn="l" indent="0" marL="0">
              <a:buNone/>
              <a:defRPr lang="en-US" sz="3200" b="1" dirty="0">
                <a:solidFill>
                  <a:schemeClr val="tx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E73"/>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X">
    <p:bg>
      <p:bgPr>
        <a:solidFill>
          <a:srgbClr val="1D1D1F"/>
        </a:solidFill>
      </p:bgPr>
    </p:bg>
    <p:spTree>
      <p:nvGrpSpPr>
        <p:cNvPr id="1" name=""/>
        <p:cNvGrpSpPr/>
        <p:nvPr/>
      </p:nvGrpSpPr>
      <p:grpSpPr>
        <a:xfrm>
          <a:off x="0" y="0"/>
          <a:ext cx="0" cy="0"/>
          <a:chOff x="0" y="0"/>
          <a:chExt cx="0" cy="0"/>
        </a:xfrm>
      </p:grpSpPr>
      <p:pic>
        <p:nvPicPr>
          <p:cNvPr id="2" name="Image 0" descr="/Users/praveenkumarthangaraj/Documents/CobaltIngestion/voice-insights-azureapi/docs/presentation/assets/aia-voice-insights-wordmark-white.png">    </p:cNvPr>
          <p:cNvPicPr>
            <a:picLocks noChangeAspect="1"/>
          </p:cNvPicPr>
          <p:nvPr/>
        </p:nvPicPr>
        <p:blipFill>
          <a:blip r:embed="rId1"/>
          <a:stretch>
            <a:fillRect/>
          </a:stretch>
        </p:blipFill>
        <p:spPr>
          <a:xfrm>
            <a:off x="731520" y="6355080"/>
            <a:ext cx="1737360" cy="144475"/>
          </a:xfrm>
          <a:prstGeom prst="rect">
            <a:avLst/>
          </a:prstGeom>
        </p:spPr>
      </p:pic>
      <p:sp>
        <p:nvSpPr>
          <p:cNvPr id="3" name="Text 0"/>
          <p:cNvSpPr/>
          <p:nvPr>
            <p:ph idx="101" type="title" hasCustomPrompt="1"/>
          </p:nvPr>
        </p:nvSpPr>
        <p:spPr>
          <a:xfrm>
            <a:off x="731520" y="1828800"/>
            <a:ext cx="5852160" cy="1737360"/>
          </a:xfrm>
          <a:prstGeom prst="rect">
            <a:avLst/>
          </a:prstGeom>
          <a:noFill/>
          <a:ln/>
        </p:spPr>
        <p:txBody>
          <a:bodyPr wrap="square" rtlCol="0"/>
          <a:lstStyle>
            <a:lvl1pPr algn="l" indent="0" marL="0">
              <a:buNone/>
              <a:defRPr lang="en-US" sz="4800" b="1" dirty="0">
                <a:solidFill>
                  <a:schemeClr val="bg1"/>
                </a:solidFill>
                <a:latin typeface="Arial" pitchFamily="34" charset="0"/>
                <a:ea typeface="Arial" pitchFamily="34" charset="-122"/>
                <a:cs typeface="Arial" pitchFamily="34" charset="-120"/>
              </a:defRPr>
            </a:lvl1pPr>
          </a:lstStyle>
          <a:p>
            <a:pPr algn="l" indent="0" marL="0">
              <a:buNone/>
            </a:pPr>
            <a:endParaRPr lang="en-US" sz="4800" dirty="0"/>
          </a:p>
        </p:txBody>
      </p:sp>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1A1A6"/>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RO">
    <p:bg>
      <p:bgPr>
        <a:solidFill>
          <a:srgbClr val="FFFFFF"/>
        </a:solidFill>
      </p:bgPr>
    </p:bg>
    <p:spTree>
      <p:nvGrpSpPr>
        <p:cNvPr id="1" name=""/>
        <p:cNvGrpSpPr/>
        <p:nvPr/>
      </p:nvGrpSpPr>
      <p:grpSpPr>
        <a:xfrm>
          <a:off x="0" y="0"/>
          <a:ext cx="0" cy="0"/>
          <a:chOff x="0" y="0"/>
          <a:chExt cx="0" cy="0"/>
        </a:xfrm>
      </p:grpSpPr>
      <p:pic>
        <p:nvPicPr>
          <p:cNvPr id="2" name="Image 0" descr="/Users/praveenkumarthangaraj/Documents/CobaltIngestion/voice-insights-azureapi/docs/presentation/assets/hero.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E73"/>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itle"/>
          <p:cNvSpPr txBox="1"/>
          <p:nvPr/>
        </p:nvSpPr>
        <p:spPr>
          <a:xfrm>
            <a:off x="7635240" y="1371600"/>
            <a:ext cx="4023360" cy="2103120"/>
          </a:xfrm>
          <a:prstGeom prst="rect">
            <a:avLst/>
          </a:prstGeom>
          <a:noFill/>
          <a:ln/>
        </p:spPr>
        <p:txBody>
          <a:bodyPr wrap="square" lIns="0" tIns="0" rIns="0" bIns="0" rtlCol="0" anchor="t"/>
          <a:lstStyle/>
          <a:p>
            <a:pPr indent="0" marL="0">
              <a:buNone/>
            </a:pPr>
            <a:r>
              <a:rPr lang="en-US" sz="3800" b="1" dirty="0">
                <a:solidFill>
                  <a:schemeClr val="tx1"/>
                </a:solidFill>
                <a:latin typeface="Arial" pitchFamily="34" charset="0"/>
                <a:ea typeface="Arial" pitchFamily="34" charset="-122"/>
                <a:cs typeface="Arial" pitchFamily="34" charset="-120"/>
              </a:rPr>
              <a:t>Every</a:t>
            </a:r>
            <a:endParaRPr lang="en-US" sz="3800" dirty="0"/>
          </a:p>
          <a:p>
            <a:pPr indent="0" marL="0">
              <a:buNone/>
            </a:pPr>
            <a:r>
              <a:rPr lang="en-US" sz="3800" b="1" dirty="0">
                <a:solidFill>
                  <a:schemeClr val="tx1"/>
                </a:solidFill>
                <a:latin typeface="Arial" pitchFamily="34" charset="0"/>
                <a:ea typeface="Arial" pitchFamily="34" charset="-122"/>
                <a:cs typeface="Arial" pitchFamily="34" charset="-120"/>
              </a:rPr>
              <a:t>conversation,</a:t>
            </a:r>
            <a:endParaRPr lang="en-US" sz="3800" dirty="0"/>
          </a:p>
          <a:p>
            <a:pPr indent="0" marL="0">
              <a:buNone/>
            </a:pPr>
            <a:r>
              <a:rPr lang="en-US" sz="3800" b="1" dirty="0">
                <a:solidFill>
                  <a:schemeClr val="tx1"/>
                </a:solidFill>
                <a:latin typeface="Arial" pitchFamily="34" charset="0"/>
                <a:ea typeface="Arial" pitchFamily="34" charset="-122"/>
                <a:cs typeface="Arial" pitchFamily="34" charset="-120"/>
              </a:rPr>
              <a:t>remembered.</a:t>
            </a:r>
            <a:endParaRPr lang="en-US" sz="3800" dirty="0"/>
          </a:p>
        </p:txBody>
      </p:sp>
      <p:sp>
        <p:nvSpPr>
          <p:cNvPr id="4" name="Product"/>
          <p:cNvSpPr txBox="1"/>
          <p:nvPr/>
        </p:nvSpPr>
        <p:spPr>
          <a:xfrm>
            <a:off x="7635240" y="3657600"/>
            <a:ext cx="4023360" cy="36576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AIA Voice Insights</a:t>
            </a:r>
            <a:endParaRPr lang="en-US" sz="2000" dirty="0"/>
          </a:p>
        </p:txBody>
      </p:sp>
      <p:sp>
        <p:nvSpPr>
          <p:cNvPr id="5" name="Occasion"/>
          <p:cNvSpPr txBox="1"/>
          <p:nvPr/>
        </p:nvSpPr>
        <p:spPr>
          <a:xfrm>
            <a:off x="7635240" y="4114800"/>
            <a:ext cx="4023360" cy="640080"/>
          </a:xfrm>
          <a:prstGeom prst="rect">
            <a:avLst/>
          </a:prstGeom>
          <a:noFill/>
          <a:ln/>
        </p:spPr>
        <p:txBody>
          <a:bodyPr wrap="square" lIns="0" tIns="0" rIns="0" bIns="0" rtlCol="0" anchor="ctr"/>
          <a:lstStyle/>
          <a:p>
            <a:pPr indent="0" marL="0">
              <a:buNone/>
            </a:pPr>
            <a:r>
              <a:rPr lang="en-US" sz="1600" dirty="0">
                <a:solidFill>
                  <a:schemeClr val="tx2"/>
                </a:solidFill>
                <a:latin typeface="Arial" pitchFamily="34" charset="0"/>
                <a:ea typeface="Arial" pitchFamily="34" charset="-122"/>
                <a:cs typeface="Arial" pitchFamily="34" charset="-120"/>
              </a:rPr>
              <a:t>Board briefing</a:t>
            </a:r>
            <a:endParaRPr lang="en-US" sz="1600" dirty="0"/>
          </a:p>
          <a:p>
            <a:pPr indent="0" marL="0">
              <a:buNone/>
            </a:pPr>
            <a:r>
              <a:rPr lang="en-US" sz="1600" dirty="0">
                <a:solidFill>
                  <a:schemeClr val="tx2"/>
                </a:solidFill>
                <a:latin typeface="Arial" pitchFamily="34" charset="0"/>
                <a:ea typeface="Arial" pitchFamily="34" charset="-122"/>
                <a:cs typeface="Arial" pitchFamily="34" charset="-120"/>
              </a:rPr>
              <a:t>AIA Global Innovation Conference</a:t>
            </a:r>
            <a:endParaRPr lang="en-US" sz="1600" dirty="0"/>
          </a:p>
        </p:txBody>
      </p:sp>
      <p:sp>
        <p:nvSpPr>
          <p:cNvPr id="6" name="Presenter"/>
          <p:cNvSpPr txBox="1"/>
          <p:nvPr/>
        </p:nvSpPr>
        <p:spPr>
          <a:xfrm>
            <a:off x="7635240" y="5897880"/>
            <a:ext cx="4023360" cy="274320"/>
          </a:xfrm>
          <a:prstGeom prst="rect">
            <a:avLst/>
          </a:prstGeom>
          <a:noFill/>
          <a:ln/>
        </p:spPr>
        <p:txBody>
          <a:bodyPr wrap="square" lIns="0" tIns="0" rIns="0" bIns="0" rtlCol="0" anchor="ctr"/>
          <a:lstStyle/>
          <a:p>
            <a:pPr indent="0" marL="0">
              <a:buNone/>
            </a:pPr>
            <a:r>
              <a:rPr lang="en-US" sz="1400" dirty="0">
                <a:solidFill>
                  <a:schemeClr val="tx2"/>
                </a:solidFill>
                <a:latin typeface="Arial" pitchFamily="34" charset="0"/>
                <a:ea typeface="Arial" pitchFamily="34" charset="-122"/>
                <a:cs typeface="Arial" pitchFamily="34" charset="-120"/>
              </a:rPr>
              <a:t>[Presenter name], [title]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1" type="title" hasCustomPrompt="1"/>
          </p:nvPr>
        </p:nvSpPr>
        <p:spPr>
          <a:xfrm>
            <a:off x="731520" y="502920"/>
            <a:ext cx="10728655" cy="12344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The meeting ends. The real work begins</a:t>
            </a:r>
            <a:endParaRPr lang="en-US" sz="3600" dirty="0"/>
          </a:p>
        </p:txBody>
      </p:sp>
      <p:sp>
        <p:nvSpPr>
          <p:cNvPr id="4" name="Notes card"/>
          <p:cNvSpPr/>
          <p:nvPr/>
        </p:nvSpPr>
        <p:spPr>
          <a:xfrm>
            <a:off x="731520" y="2240280"/>
            <a:ext cx="1984248" cy="2468880"/>
          </a:xfrm>
          <a:prstGeom prst="roundRect">
            <a:avLst>
              <a:gd name="adj" fmla="val 4608"/>
            </a:avLst>
          </a:prstGeom>
          <a:solidFill>
            <a:schemeClr val="bg2"/>
          </a:solidFill>
          <a:ln/>
          <a:effectLst>
            <a:outerShdw sx="100000" sy="100000" kx="0" ky="0" algn="bl" rotWithShape="0" blurRad="177800" dist="38100" dir="5400000">
              <a:srgbClr val="000000">
                <a:alpha val="10000"/>
              </a:srgbClr>
            </a:outerShdw>
          </a:effectLst>
        </p:spPr>
      </p:sp>
      <p:sp>
        <p:nvSpPr>
          <p:cNvPr id="5" name="Shape 2"/>
          <p:cNvSpPr/>
          <p:nvPr/>
        </p:nvSpPr>
        <p:spPr>
          <a:xfrm>
            <a:off x="1005840" y="2560320"/>
            <a:ext cx="731520" cy="731520"/>
          </a:xfrm>
          <a:prstGeom prst="ellipse">
            <a:avLst/>
          </a:prstGeom>
          <a:solidFill>
            <a:srgbClr val="FBE3EA"/>
          </a:solidFill>
          <a:ln/>
        </p:spPr>
      </p:sp>
      <p:pic>
        <p:nvPicPr>
          <p:cNvPr id="6" name="Notes icon" descr="Notes">    </p:cNvPr>
          <p:cNvPicPr>
            <a:picLocks noChangeAspect="1"/>
          </p:cNvPicPr>
          <p:nvPr/>
        </p:nvPicPr>
        <p:blipFill>
          <a:blip r:embed="rId1"/>
          <a:stretch>
            <a:fillRect/>
          </a:stretch>
        </p:blipFill>
        <p:spPr>
          <a:xfrm>
            <a:off x="1188720" y="2743200"/>
            <a:ext cx="365760" cy="365760"/>
          </a:xfrm>
          <a:prstGeom prst="rect">
            <a:avLst/>
          </a:prstGeom>
        </p:spPr>
      </p:pic>
      <p:sp>
        <p:nvSpPr>
          <p:cNvPr id="7" name="Notes label"/>
          <p:cNvSpPr txBox="1"/>
          <p:nvPr/>
        </p:nvSpPr>
        <p:spPr>
          <a:xfrm>
            <a:off x="1005840" y="3520440"/>
            <a:ext cx="1527048" cy="59436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Notes</a:t>
            </a:r>
            <a:endParaRPr lang="en-US" sz="1700" dirty="0"/>
          </a:p>
        </p:txBody>
      </p:sp>
      <p:sp>
        <p:nvSpPr>
          <p:cNvPr id="8" name="Notes sub"/>
          <p:cNvSpPr txBox="1"/>
          <p:nvPr/>
        </p:nvSpPr>
        <p:spPr>
          <a:xfrm>
            <a:off x="1005840" y="4114800"/>
            <a:ext cx="1527048" cy="36576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Typed up from memory</a:t>
            </a:r>
            <a:endParaRPr lang="en-US" sz="1400" dirty="0"/>
          </a:p>
        </p:txBody>
      </p:sp>
      <p:sp>
        <p:nvSpPr>
          <p:cNvPr id="9" name="Fact-find card"/>
          <p:cNvSpPr/>
          <p:nvPr/>
        </p:nvSpPr>
        <p:spPr>
          <a:xfrm>
            <a:off x="2916936" y="2240280"/>
            <a:ext cx="1984248" cy="2468880"/>
          </a:xfrm>
          <a:prstGeom prst="roundRect">
            <a:avLst>
              <a:gd name="adj" fmla="val 4608"/>
            </a:avLst>
          </a:prstGeom>
          <a:solidFill>
            <a:schemeClr val="bg2"/>
          </a:solidFill>
          <a:ln/>
          <a:effectLst>
            <a:outerShdw sx="100000" sy="100000" kx="0" ky="0" algn="bl" rotWithShape="0" blurRad="177800" dist="38100" dir="5400000">
              <a:srgbClr val="000000">
                <a:alpha val="10000"/>
              </a:srgbClr>
            </a:outerShdw>
          </a:effectLst>
        </p:spPr>
      </p:sp>
      <p:sp>
        <p:nvSpPr>
          <p:cNvPr id="10" name="Shape 6"/>
          <p:cNvSpPr/>
          <p:nvPr/>
        </p:nvSpPr>
        <p:spPr>
          <a:xfrm>
            <a:off x="3191256" y="2560320"/>
            <a:ext cx="731520" cy="731520"/>
          </a:xfrm>
          <a:prstGeom prst="ellipse">
            <a:avLst/>
          </a:prstGeom>
          <a:solidFill>
            <a:srgbClr val="FBE3EA"/>
          </a:solidFill>
          <a:ln/>
        </p:spPr>
      </p:sp>
      <p:pic>
        <p:nvPicPr>
          <p:cNvPr id="11" name="Fact-find icon" descr="Fact-find">    </p:cNvPr>
          <p:cNvPicPr>
            <a:picLocks noChangeAspect="1"/>
          </p:cNvPicPr>
          <p:nvPr/>
        </p:nvPicPr>
        <p:blipFill>
          <a:blip r:embed="rId2"/>
          <a:stretch>
            <a:fillRect/>
          </a:stretch>
        </p:blipFill>
        <p:spPr>
          <a:xfrm>
            <a:off x="3374136" y="2743200"/>
            <a:ext cx="365760" cy="365760"/>
          </a:xfrm>
          <a:prstGeom prst="rect">
            <a:avLst/>
          </a:prstGeom>
        </p:spPr>
      </p:pic>
      <p:sp>
        <p:nvSpPr>
          <p:cNvPr id="12" name="Fact-find label"/>
          <p:cNvSpPr txBox="1"/>
          <p:nvPr/>
        </p:nvSpPr>
        <p:spPr>
          <a:xfrm>
            <a:off x="3191256" y="3520440"/>
            <a:ext cx="1527048" cy="59436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Fact-find</a:t>
            </a:r>
            <a:endParaRPr lang="en-US" sz="1700" dirty="0"/>
          </a:p>
        </p:txBody>
      </p:sp>
      <p:sp>
        <p:nvSpPr>
          <p:cNvPr id="13" name="Fact-find sub"/>
          <p:cNvSpPr txBox="1"/>
          <p:nvPr/>
        </p:nvSpPr>
        <p:spPr>
          <a:xfrm>
            <a:off x="3191256" y="4114800"/>
            <a:ext cx="1527048" cy="36576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26 fields to complete</a:t>
            </a:r>
            <a:endParaRPr lang="en-US" sz="1400" dirty="0"/>
          </a:p>
        </p:txBody>
      </p:sp>
      <p:sp>
        <p:nvSpPr>
          <p:cNvPr id="14" name="Record of advice card"/>
          <p:cNvSpPr/>
          <p:nvPr/>
        </p:nvSpPr>
        <p:spPr>
          <a:xfrm>
            <a:off x="5102352" y="2240280"/>
            <a:ext cx="1984248" cy="2468880"/>
          </a:xfrm>
          <a:prstGeom prst="roundRect">
            <a:avLst>
              <a:gd name="adj" fmla="val 4608"/>
            </a:avLst>
          </a:prstGeom>
          <a:solidFill>
            <a:schemeClr val="bg2"/>
          </a:solidFill>
          <a:ln/>
          <a:effectLst>
            <a:outerShdw sx="100000" sy="100000" kx="0" ky="0" algn="bl" rotWithShape="0" blurRad="177800" dist="38100" dir="5400000">
              <a:srgbClr val="000000">
                <a:alpha val="10000"/>
              </a:srgbClr>
            </a:outerShdw>
          </a:effectLst>
        </p:spPr>
      </p:sp>
      <p:sp>
        <p:nvSpPr>
          <p:cNvPr id="15" name="Shape 10"/>
          <p:cNvSpPr/>
          <p:nvPr/>
        </p:nvSpPr>
        <p:spPr>
          <a:xfrm>
            <a:off x="5376672" y="2560320"/>
            <a:ext cx="731520" cy="731520"/>
          </a:xfrm>
          <a:prstGeom prst="ellipse">
            <a:avLst/>
          </a:prstGeom>
          <a:solidFill>
            <a:srgbClr val="FBE3EA"/>
          </a:solidFill>
          <a:ln/>
        </p:spPr>
      </p:sp>
      <p:pic>
        <p:nvPicPr>
          <p:cNvPr id="16" name="Record of advice icon" descr="Record of advice">    </p:cNvPr>
          <p:cNvPicPr>
            <a:picLocks noChangeAspect="1"/>
          </p:cNvPicPr>
          <p:nvPr/>
        </p:nvPicPr>
        <p:blipFill>
          <a:blip r:embed="rId3"/>
          <a:stretch>
            <a:fillRect/>
          </a:stretch>
        </p:blipFill>
        <p:spPr>
          <a:xfrm>
            <a:off x="5559552" y="2743200"/>
            <a:ext cx="365760" cy="365760"/>
          </a:xfrm>
          <a:prstGeom prst="rect">
            <a:avLst/>
          </a:prstGeom>
        </p:spPr>
      </p:pic>
      <p:sp>
        <p:nvSpPr>
          <p:cNvPr id="17" name="Record of advice label"/>
          <p:cNvSpPr txBox="1"/>
          <p:nvPr/>
        </p:nvSpPr>
        <p:spPr>
          <a:xfrm>
            <a:off x="5376672" y="3520440"/>
            <a:ext cx="1527048" cy="59436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Record of advice</a:t>
            </a:r>
            <a:endParaRPr lang="en-US" sz="1700" dirty="0"/>
          </a:p>
        </p:txBody>
      </p:sp>
      <p:sp>
        <p:nvSpPr>
          <p:cNvPr id="18" name="Record of advice sub"/>
          <p:cNvSpPr txBox="1"/>
          <p:nvPr/>
        </p:nvSpPr>
        <p:spPr>
          <a:xfrm>
            <a:off x="5376672" y="4114800"/>
            <a:ext cx="1527048" cy="36576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Written by hand</a:t>
            </a:r>
            <a:endParaRPr lang="en-US" sz="1400" dirty="0"/>
          </a:p>
        </p:txBody>
      </p:sp>
      <p:sp>
        <p:nvSpPr>
          <p:cNvPr id="19" name="Follow-up card"/>
          <p:cNvSpPr/>
          <p:nvPr/>
        </p:nvSpPr>
        <p:spPr>
          <a:xfrm>
            <a:off x="7287768" y="2240280"/>
            <a:ext cx="1984248" cy="2468880"/>
          </a:xfrm>
          <a:prstGeom prst="roundRect">
            <a:avLst>
              <a:gd name="adj" fmla="val 4608"/>
            </a:avLst>
          </a:prstGeom>
          <a:solidFill>
            <a:schemeClr val="bg2"/>
          </a:solidFill>
          <a:ln/>
          <a:effectLst>
            <a:outerShdw sx="100000" sy="100000" kx="0" ky="0" algn="bl" rotWithShape="0" blurRad="177800" dist="38100" dir="5400000">
              <a:srgbClr val="000000">
                <a:alpha val="10000"/>
              </a:srgbClr>
            </a:outerShdw>
          </a:effectLst>
        </p:spPr>
      </p:sp>
      <p:sp>
        <p:nvSpPr>
          <p:cNvPr id="20" name="Shape 14"/>
          <p:cNvSpPr/>
          <p:nvPr/>
        </p:nvSpPr>
        <p:spPr>
          <a:xfrm>
            <a:off x="7562088" y="2560320"/>
            <a:ext cx="731520" cy="731520"/>
          </a:xfrm>
          <a:prstGeom prst="ellipse">
            <a:avLst/>
          </a:prstGeom>
          <a:solidFill>
            <a:srgbClr val="FBE3EA"/>
          </a:solidFill>
          <a:ln/>
        </p:spPr>
      </p:sp>
      <p:pic>
        <p:nvPicPr>
          <p:cNvPr id="21" name="Follow-up icon" descr="Follow-up">    </p:cNvPr>
          <p:cNvPicPr>
            <a:picLocks noChangeAspect="1"/>
          </p:cNvPicPr>
          <p:nvPr/>
        </p:nvPicPr>
        <p:blipFill>
          <a:blip r:embed="rId4"/>
          <a:stretch>
            <a:fillRect/>
          </a:stretch>
        </p:blipFill>
        <p:spPr>
          <a:xfrm>
            <a:off x="7744968" y="2743200"/>
            <a:ext cx="365760" cy="365760"/>
          </a:xfrm>
          <a:prstGeom prst="rect">
            <a:avLst/>
          </a:prstGeom>
        </p:spPr>
      </p:pic>
      <p:sp>
        <p:nvSpPr>
          <p:cNvPr id="22" name="Follow-up label"/>
          <p:cNvSpPr txBox="1"/>
          <p:nvPr/>
        </p:nvSpPr>
        <p:spPr>
          <a:xfrm>
            <a:off x="7562088" y="3520440"/>
            <a:ext cx="1527048" cy="59436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Follow-up</a:t>
            </a:r>
            <a:endParaRPr lang="en-US" sz="1700" dirty="0"/>
          </a:p>
        </p:txBody>
      </p:sp>
      <p:sp>
        <p:nvSpPr>
          <p:cNvPr id="23" name="Follow-up sub"/>
          <p:cNvSpPr txBox="1"/>
          <p:nvPr/>
        </p:nvSpPr>
        <p:spPr>
          <a:xfrm>
            <a:off x="7562088" y="4114800"/>
            <a:ext cx="1527048" cy="36576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Often days later</a:t>
            </a:r>
            <a:endParaRPr lang="en-US" sz="1400" dirty="0"/>
          </a:p>
        </p:txBody>
      </p:sp>
      <p:sp>
        <p:nvSpPr>
          <p:cNvPr id="24" name="CRM update card"/>
          <p:cNvSpPr/>
          <p:nvPr/>
        </p:nvSpPr>
        <p:spPr>
          <a:xfrm>
            <a:off x="9473184" y="2240280"/>
            <a:ext cx="1984248" cy="2468880"/>
          </a:xfrm>
          <a:prstGeom prst="roundRect">
            <a:avLst>
              <a:gd name="adj" fmla="val 4608"/>
            </a:avLst>
          </a:prstGeom>
          <a:solidFill>
            <a:schemeClr val="bg2"/>
          </a:solidFill>
          <a:ln/>
          <a:effectLst>
            <a:outerShdw sx="100000" sy="100000" kx="0" ky="0" algn="bl" rotWithShape="0" blurRad="177800" dist="38100" dir="5400000">
              <a:srgbClr val="000000">
                <a:alpha val="10000"/>
              </a:srgbClr>
            </a:outerShdw>
          </a:effectLst>
        </p:spPr>
      </p:sp>
      <p:sp>
        <p:nvSpPr>
          <p:cNvPr id="25" name="Shape 18"/>
          <p:cNvSpPr/>
          <p:nvPr/>
        </p:nvSpPr>
        <p:spPr>
          <a:xfrm>
            <a:off x="9747504" y="2560320"/>
            <a:ext cx="731520" cy="731520"/>
          </a:xfrm>
          <a:prstGeom prst="ellipse">
            <a:avLst/>
          </a:prstGeom>
          <a:solidFill>
            <a:srgbClr val="FBE3EA"/>
          </a:solidFill>
          <a:ln/>
        </p:spPr>
      </p:sp>
      <p:pic>
        <p:nvPicPr>
          <p:cNvPr id="26" name="CRM update icon" descr="CRM update">    </p:cNvPr>
          <p:cNvPicPr>
            <a:picLocks noChangeAspect="1"/>
          </p:cNvPicPr>
          <p:nvPr/>
        </p:nvPicPr>
        <p:blipFill>
          <a:blip r:embed="rId5"/>
          <a:stretch>
            <a:fillRect/>
          </a:stretch>
        </p:blipFill>
        <p:spPr>
          <a:xfrm>
            <a:off x="9930384" y="2743200"/>
            <a:ext cx="365760" cy="365760"/>
          </a:xfrm>
          <a:prstGeom prst="rect">
            <a:avLst/>
          </a:prstGeom>
        </p:spPr>
      </p:pic>
      <p:sp>
        <p:nvSpPr>
          <p:cNvPr id="27" name="CRM update label"/>
          <p:cNvSpPr txBox="1"/>
          <p:nvPr/>
        </p:nvSpPr>
        <p:spPr>
          <a:xfrm>
            <a:off x="9747504" y="3520440"/>
            <a:ext cx="1527048" cy="59436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CRM update</a:t>
            </a:r>
            <a:endParaRPr lang="en-US" sz="1700" dirty="0"/>
          </a:p>
        </p:txBody>
      </p:sp>
      <p:sp>
        <p:nvSpPr>
          <p:cNvPr id="28" name="CRM update sub"/>
          <p:cNvSpPr txBox="1"/>
          <p:nvPr/>
        </p:nvSpPr>
        <p:spPr>
          <a:xfrm>
            <a:off x="9747504" y="4114800"/>
            <a:ext cx="1527048" cy="36576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More typing</a:t>
            </a:r>
            <a:endParaRPr lang="en-US" sz="1400" dirty="0"/>
          </a:p>
        </p:txBody>
      </p:sp>
      <p:sp>
        <p:nvSpPr>
          <p:cNvPr id="29" name="Assumption"/>
          <p:cNvSpPr txBox="1"/>
          <p:nvPr/>
        </p:nvSpPr>
        <p:spPr>
          <a:xfrm>
            <a:off x="731520" y="5212080"/>
            <a:ext cx="10728655" cy="365760"/>
          </a:xfrm>
          <a:prstGeom prst="rect">
            <a:avLst/>
          </a:prstGeom>
          <a:noFill/>
          <a:ln/>
        </p:spPr>
        <p:txBody>
          <a:bodyPr wrap="square" lIns="0" tIns="0" rIns="0" bIns="0" rtlCol="0" anchor="ctr"/>
          <a:lstStyle/>
          <a:p>
            <a:pPr indent="0" marL="0">
              <a:buNone/>
            </a:pPr>
            <a:r>
              <a:rPr lang="en-US" sz="1600" i="1" dirty="0">
                <a:solidFill>
                  <a:schemeClr val="tx2"/>
                </a:solidFill>
                <a:latin typeface="Arial" pitchFamily="34" charset="0"/>
                <a:ea typeface="Arial" pitchFamily="34" charset="-122"/>
                <a:cs typeface="Arial" pitchFamily="34" charset="-120"/>
              </a:rPr>
              <a:t>Planning assumption: about 45 minutes of admin per case. The pilot measures the real number.</a:t>
            </a:r>
            <a:endParaRPr lang="en-US" sz="1600" dirty="0"/>
          </a:p>
        </p:txBody>
      </p:sp>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E73"/>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1" type="title" hasCustomPrompt="1"/>
          </p:nvPr>
        </p:nvSpPr>
        <p:spPr>
          <a:xfrm>
            <a:off x="731520" y="502920"/>
            <a:ext cx="10728655" cy="12344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What if the conversation was the work?</a:t>
            </a:r>
            <a:endParaRPr lang="en-US" sz="3600" dirty="0"/>
          </a:p>
        </p:txBody>
      </p:sp>
      <p:sp>
        <p:nvSpPr>
          <p:cNvPr id="4" name="Capture card"/>
          <p:cNvSpPr/>
          <p:nvPr/>
        </p:nvSpPr>
        <p:spPr>
          <a:xfrm>
            <a:off x="731520" y="2103120"/>
            <a:ext cx="3429000" cy="3566160"/>
          </a:xfrm>
          <a:prstGeom prst="roundRect">
            <a:avLst>
              <a:gd name="adj" fmla="val 2667"/>
            </a:avLst>
          </a:prstGeom>
          <a:solidFill>
            <a:schemeClr val="bg2"/>
          </a:solidFill>
          <a:ln/>
          <a:effectLst>
            <a:outerShdw sx="100000" sy="100000" kx="0" ky="0" algn="bl" rotWithShape="0" blurRad="177800" dist="38100" dir="5400000">
              <a:srgbClr val="000000">
                <a:alpha val="10000"/>
              </a:srgbClr>
            </a:outerShdw>
          </a:effectLst>
        </p:spPr>
      </p:sp>
      <p:sp>
        <p:nvSpPr>
          <p:cNvPr id="5" name="Shape 2"/>
          <p:cNvSpPr/>
          <p:nvPr/>
        </p:nvSpPr>
        <p:spPr>
          <a:xfrm>
            <a:off x="1097280" y="2468880"/>
            <a:ext cx="868680" cy="868680"/>
          </a:xfrm>
          <a:prstGeom prst="ellipse">
            <a:avLst/>
          </a:prstGeom>
          <a:solidFill>
            <a:srgbClr val="D31145"/>
          </a:solidFill>
          <a:ln/>
        </p:spPr>
      </p:sp>
      <p:pic>
        <p:nvPicPr>
          <p:cNvPr id="6" name="Capture icon" descr="Capture">    </p:cNvPr>
          <p:cNvPicPr>
            <a:picLocks noChangeAspect="1"/>
          </p:cNvPicPr>
          <p:nvPr/>
        </p:nvPicPr>
        <p:blipFill>
          <a:blip r:embed="rId1"/>
          <a:stretch>
            <a:fillRect/>
          </a:stretch>
        </p:blipFill>
        <p:spPr>
          <a:xfrm>
            <a:off x="1344168" y="2715768"/>
            <a:ext cx="374904" cy="374904"/>
          </a:xfrm>
          <a:prstGeom prst="rect">
            <a:avLst/>
          </a:prstGeom>
        </p:spPr>
      </p:pic>
      <p:sp>
        <p:nvSpPr>
          <p:cNvPr id="7" name="Capture word"/>
          <p:cNvSpPr txBox="1"/>
          <p:nvPr/>
        </p:nvSpPr>
        <p:spPr>
          <a:xfrm>
            <a:off x="1097280" y="3611880"/>
            <a:ext cx="2697480" cy="548640"/>
          </a:xfrm>
          <a:prstGeom prst="rect">
            <a:avLst/>
          </a:prstGeom>
          <a:noFill/>
          <a:ln/>
        </p:spPr>
        <p:txBody>
          <a:bodyPr wrap="square" lIns="0" tIns="0" rIns="0" bIns="0" rtlCol="0" anchor="ctr"/>
          <a:lstStyle/>
          <a:p>
            <a:pPr indent="0" marL="0">
              <a:buNone/>
            </a:pPr>
            <a:r>
              <a:rPr lang="en-US" sz="3000" b="1" dirty="0">
                <a:solidFill>
                  <a:schemeClr val="accent1"/>
                </a:solidFill>
                <a:latin typeface="Arial" pitchFamily="34" charset="0"/>
                <a:ea typeface="Arial" pitchFamily="34" charset="-122"/>
                <a:cs typeface="Arial" pitchFamily="34" charset="-120"/>
              </a:rPr>
              <a:t>Capture</a:t>
            </a:r>
            <a:endParaRPr lang="en-US" sz="3000" dirty="0"/>
          </a:p>
        </p:txBody>
      </p:sp>
      <p:sp>
        <p:nvSpPr>
          <p:cNvPr id="8" name="Capture text"/>
          <p:cNvSpPr txBox="1"/>
          <p:nvPr/>
        </p:nvSpPr>
        <p:spPr>
          <a:xfrm>
            <a:off x="1097280" y="4251960"/>
            <a:ext cx="2697480" cy="1188720"/>
          </a:xfrm>
          <a:prstGeom prst="rect">
            <a:avLst/>
          </a:prstGeom>
          <a:noFill/>
          <a:ln/>
        </p:spPr>
        <p:txBody>
          <a:bodyPr wrap="square" lIns="0" tIns="0" rIns="0" bIns="0" rtlCol="0" anchor="t"/>
          <a:lstStyle/>
          <a:p>
            <a:pPr indent="0" marL="0">
              <a:buNone/>
            </a:pPr>
            <a:r>
              <a:rPr lang="en-US" sz="1600" dirty="0">
                <a:solidFill>
                  <a:schemeClr val="tx1"/>
                </a:solidFill>
                <a:latin typeface="Arial" pitchFamily="34" charset="0"/>
                <a:ea typeface="Arial" pitchFamily="34" charset="-122"/>
                <a:cs typeface="Arial" pitchFamily="34" charset="-120"/>
              </a:rPr>
              <a:t>Dictate once, naturally, in English, Mandarin, Malay or Tamil.</a:t>
            </a:r>
            <a:endParaRPr lang="en-US" sz="1600" dirty="0"/>
          </a:p>
        </p:txBody>
      </p:sp>
      <p:sp>
        <p:nvSpPr>
          <p:cNvPr id="9" name="Analyse card"/>
          <p:cNvSpPr/>
          <p:nvPr/>
        </p:nvSpPr>
        <p:spPr>
          <a:xfrm>
            <a:off x="4379976" y="2103120"/>
            <a:ext cx="3429000" cy="3566160"/>
          </a:xfrm>
          <a:prstGeom prst="roundRect">
            <a:avLst>
              <a:gd name="adj" fmla="val 2667"/>
            </a:avLst>
          </a:prstGeom>
          <a:solidFill>
            <a:schemeClr val="bg2"/>
          </a:solidFill>
          <a:ln/>
          <a:effectLst>
            <a:outerShdw sx="100000" sy="100000" kx="0" ky="0" algn="bl" rotWithShape="0" blurRad="177800" dist="38100" dir="5400000">
              <a:srgbClr val="000000">
                <a:alpha val="10000"/>
              </a:srgbClr>
            </a:outerShdw>
          </a:effectLst>
        </p:spPr>
      </p:sp>
      <p:sp>
        <p:nvSpPr>
          <p:cNvPr id="10" name="Shape 6"/>
          <p:cNvSpPr/>
          <p:nvPr/>
        </p:nvSpPr>
        <p:spPr>
          <a:xfrm>
            <a:off x="4745736" y="2468880"/>
            <a:ext cx="868680" cy="868680"/>
          </a:xfrm>
          <a:prstGeom prst="ellipse">
            <a:avLst/>
          </a:prstGeom>
          <a:solidFill>
            <a:srgbClr val="D31145"/>
          </a:solidFill>
          <a:ln/>
        </p:spPr>
      </p:sp>
      <p:pic>
        <p:nvPicPr>
          <p:cNvPr id="11" name="Analyse icon" descr="Analyse">    </p:cNvPr>
          <p:cNvPicPr>
            <a:picLocks noChangeAspect="1"/>
          </p:cNvPicPr>
          <p:nvPr/>
        </p:nvPicPr>
        <p:blipFill>
          <a:blip r:embed="rId2"/>
          <a:stretch>
            <a:fillRect/>
          </a:stretch>
        </p:blipFill>
        <p:spPr>
          <a:xfrm>
            <a:off x="4992624" y="2715768"/>
            <a:ext cx="374904" cy="374904"/>
          </a:xfrm>
          <a:prstGeom prst="rect">
            <a:avLst/>
          </a:prstGeom>
        </p:spPr>
      </p:pic>
      <p:sp>
        <p:nvSpPr>
          <p:cNvPr id="12" name="Analyse word"/>
          <p:cNvSpPr txBox="1"/>
          <p:nvPr/>
        </p:nvSpPr>
        <p:spPr>
          <a:xfrm>
            <a:off x="4745736" y="3611880"/>
            <a:ext cx="2697480" cy="548640"/>
          </a:xfrm>
          <a:prstGeom prst="rect">
            <a:avLst/>
          </a:prstGeom>
          <a:noFill/>
          <a:ln/>
        </p:spPr>
        <p:txBody>
          <a:bodyPr wrap="square" lIns="0" tIns="0" rIns="0" bIns="0" rtlCol="0" anchor="ctr"/>
          <a:lstStyle/>
          <a:p>
            <a:pPr indent="0" marL="0">
              <a:buNone/>
            </a:pPr>
            <a:r>
              <a:rPr lang="en-US" sz="3000" b="1" dirty="0">
                <a:solidFill>
                  <a:schemeClr val="accent1"/>
                </a:solidFill>
                <a:latin typeface="Arial" pitchFamily="34" charset="0"/>
                <a:ea typeface="Arial" pitchFamily="34" charset="-122"/>
                <a:cs typeface="Arial" pitchFamily="34" charset="-120"/>
              </a:rPr>
              <a:t>Analyse</a:t>
            </a:r>
            <a:endParaRPr lang="en-US" sz="3000" dirty="0"/>
          </a:p>
        </p:txBody>
      </p:sp>
      <p:sp>
        <p:nvSpPr>
          <p:cNvPr id="13" name="Analyse text"/>
          <p:cNvSpPr txBox="1"/>
          <p:nvPr/>
        </p:nvSpPr>
        <p:spPr>
          <a:xfrm>
            <a:off x="4745736" y="4251960"/>
            <a:ext cx="2697480" cy="1188720"/>
          </a:xfrm>
          <a:prstGeom prst="rect">
            <a:avLst/>
          </a:prstGeom>
          <a:noFill/>
          <a:ln/>
        </p:spPr>
        <p:txBody>
          <a:bodyPr wrap="square" lIns="0" tIns="0" rIns="0" bIns="0" rtlCol="0" anchor="t"/>
          <a:lstStyle/>
          <a:p>
            <a:pPr indent="0" marL="0">
              <a:buNone/>
            </a:pPr>
            <a:r>
              <a:rPr lang="en-US" sz="1600" dirty="0">
                <a:solidFill>
                  <a:schemeClr val="tx1"/>
                </a:solidFill>
                <a:latin typeface="Arial" pitchFamily="34" charset="0"/>
                <a:ea typeface="Arial" pitchFamily="34" charset="-122"/>
                <a:cs typeface="Arial" pitchFamily="34" charset="-120"/>
              </a:rPr>
              <a:t>Eleven specialist agents build one picture of the customer, with sources.</a:t>
            </a:r>
            <a:endParaRPr lang="en-US" sz="1600" dirty="0"/>
          </a:p>
        </p:txBody>
      </p:sp>
      <p:sp>
        <p:nvSpPr>
          <p:cNvPr id="14" name="Equip card"/>
          <p:cNvSpPr/>
          <p:nvPr/>
        </p:nvSpPr>
        <p:spPr>
          <a:xfrm>
            <a:off x="8028432" y="2103120"/>
            <a:ext cx="3429000" cy="3566160"/>
          </a:xfrm>
          <a:prstGeom prst="roundRect">
            <a:avLst>
              <a:gd name="adj" fmla="val 2667"/>
            </a:avLst>
          </a:prstGeom>
          <a:solidFill>
            <a:schemeClr val="bg2"/>
          </a:solidFill>
          <a:ln/>
          <a:effectLst>
            <a:outerShdw sx="100000" sy="100000" kx="0" ky="0" algn="bl" rotWithShape="0" blurRad="177800" dist="38100" dir="5400000">
              <a:srgbClr val="000000">
                <a:alpha val="10000"/>
              </a:srgbClr>
            </a:outerShdw>
          </a:effectLst>
        </p:spPr>
      </p:sp>
      <p:sp>
        <p:nvSpPr>
          <p:cNvPr id="15" name="Shape 10"/>
          <p:cNvSpPr/>
          <p:nvPr/>
        </p:nvSpPr>
        <p:spPr>
          <a:xfrm>
            <a:off x="8394192" y="2468880"/>
            <a:ext cx="868680" cy="868680"/>
          </a:xfrm>
          <a:prstGeom prst="ellipse">
            <a:avLst/>
          </a:prstGeom>
          <a:solidFill>
            <a:srgbClr val="D31145"/>
          </a:solidFill>
          <a:ln/>
        </p:spPr>
      </p:sp>
      <p:pic>
        <p:nvPicPr>
          <p:cNvPr id="16" name="Equip icon" descr="Equip">    </p:cNvPr>
          <p:cNvPicPr>
            <a:picLocks noChangeAspect="1"/>
          </p:cNvPicPr>
          <p:nvPr/>
        </p:nvPicPr>
        <p:blipFill>
          <a:blip r:embed="rId3"/>
          <a:stretch>
            <a:fillRect/>
          </a:stretch>
        </p:blipFill>
        <p:spPr>
          <a:xfrm>
            <a:off x="8641080" y="2715768"/>
            <a:ext cx="374904" cy="374904"/>
          </a:xfrm>
          <a:prstGeom prst="rect">
            <a:avLst/>
          </a:prstGeom>
        </p:spPr>
      </p:pic>
      <p:sp>
        <p:nvSpPr>
          <p:cNvPr id="17" name="Equip word"/>
          <p:cNvSpPr txBox="1"/>
          <p:nvPr/>
        </p:nvSpPr>
        <p:spPr>
          <a:xfrm>
            <a:off x="8394192" y="3611880"/>
            <a:ext cx="2697480" cy="548640"/>
          </a:xfrm>
          <a:prstGeom prst="rect">
            <a:avLst/>
          </a:prstGeom>
          <a:noFill/>
          <a:ln/>
        </p:spPr>
        <p:txBody>
          <a:bodyPr wrap="square" lIns="0" tIns="0" rIns="0" bIns="0" rtlCol="0" anchor="ctr"/>
          <a:lstStyle/>
          <a:p>
            <a:pPr indent="0" marL="0">
              <a:buNone/>
            </a:pPr>
            <a:r>
              <a:rPr lang="en-US" sz="3000" b="1" dirty="0">
                <a:solidFill>
                  <a:schemeClr val="accent1"/>
                </a:solidFill>
                <a:latin typeface="Arial" pitchFamily="34" charset="0"/>
                <a:ea typeface="Arial" pitchFamily="34" charset="-122"/>
                <a:cs typeface="Arial" pitchFamily="34" charset="-120"/>
              </a:rPr>
              <a:t>Equip</a:t>
            </a:r>
            <a:endParaRPr lang="en-US" sz="3000" dirty="0"/>
          </a:p>
        </p:txBody>
      </p:sp>
      <p:sp>
        <p:nvSpPr>
          <p:cNvPr id="18" name="Equip text"/>
          <p:cNvSpPr txBox="1"/>
          <p:nvPr/>
        </p:nvSpPr>
        <p:spPr>
          <a:xfrm>
            <a:off x="8394192" y="4251960"/>
            <a:ext cx="2697480" cy="1188720"/>
          </a:xfrm>
          <a:prstGeom prst="rect">
            <a:avLst/>
          </a:prstGeom>
          <a:noFill/>
          <a:ln/>
        </p:spPr>
        <p:txBody>
          <a:bodyPr wrap="square" lIns="0" tIns="0" rIns="0" bIns="0" rtlCol="0" anchor="t"/>
          <a:lstStyle/>
          <a:p>
            <a:pPr indent="0" marL="0">
              <a:buNone/>
            </a:pPr>
            <a:r>
              <a:rPr lang="en-US" sz="1600" dirty="0">
                <a:solidFill>
                  <a:schemeClr val="tx1"/>
                </a:solidFill>
                <a:latin typeface="Arial" pitchFamily="34" charset="0"/>
                <a:ea typeface="Arial" pitchFamily="34" charset="-122"/>
                <a:cs typeface="Arial" pitchFamily="34" charset="-120"/>
              </a:rPr>
              <a:t>Fact-find, record of advice and follow-up are drafted. The advisor signs off.</a:t>
            </a:r>
            <a:endParaRPr lang="en-US" sz="1600" dirty="0"/>
          </a:p>
        </p:txBody>
      </p:sp>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E73"/>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1" type="title" hasCustomPrompt="1"/>
          </p:nvPr>
        </p:nvSpPr>
        <p:spPr>
          <a:xfrm>
            <a:off x="731520" y="502920"/>
            <a:ext cx="10728655" cy="12344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We took Juno out of the room</a:t>
            </a:r>
            <a:endParaRPr lang="en-US" sz="3600" dirty="0"/>
          </a:p>
        </p:txBody>
      </p:sp>
      <p:sp>
        <p:nvSpPr>
          <p:cNvPr id="4" name="Before panel"/>
          <p:cNvSpPr/>
          <p:nvPr/>
        </p:nvSpPr>
        <p:spPr>
          <a:xfrm>
            <a:off x="731520" y="1920240"/>
            <a:ext cx="4937760" cy="2926080"/>
          </a:xfrm>
          <a:prstGeom prst="roundRect">
            <a:avLst>
              <a:gd name="adj" fmla="val 3125"/>
            </a:avLst>
          </a:prstGeom>
          <a:solidFill>
            <a:schemeClr val="bg2"/>
          </a:solidFill>
          <a:ln/>
        </p:spPr>
      </p:sp>
      <p:sp>
        <p:nvSpPr>
          <p:cNvPr id="5" name="Before label"/>
          <p:cNvSpPr txBox="1"/>
          <p:nvPr/>
        </p:nvSpPr>
        <p:spPr>
          <a:xfrm>
            <a:off x="1097280" y="2194560"/>
            <a:ext cx="4206240" cy="365760"/>
          </a:xfrm>
          <a:prstGeom prst="rect">
            <a:avLst/>
          </a:prstGeom>
          <a:noFill/>
          <a:ln/>
        </p:spPr>
        <p:txBody>
          <a:bodyPr wrap="square" lIns="0" tIns="0" rIns="0" bIns="0" rtlCol="0" anchor="ctr"/>
          <a:lstStyle/>
          <a:p>
            <a:pPr indent="0" marL="0">
              <a:buNone/>
            </a:pPr>
            <a:r>
              <a:rPr lang="en-US" sz="1400" b="1" dirty="0">
                <a:solidFill>
                  <a:schemeClr val="tx2"/>
                </a:solidFill>
                <a:latin typeface="Arial" pitchFamily="34" charset="0"/>
                <a:ea typeface="Arial" pitchFamily="34" charset="-122"/>
                <a:cs typeface="Arial" pitchFamily="34" charset="-120"/>
              </a:rPr>
              <a:t>Before</a:t>
            </a:r>
            <a:endParaRPr lang="en-US" sz="1400" dirty="0"/>
          </a:p>
        </p:txBody>
      </p:sp>
      <p:sp>
        <p:nvSpPr>
          <p:cNvPr id="6" name="Before text"/>
          <p:cNvSpPr txBox="1"/>
          <p:nvPr/>
        </p:nvSpPr>
        <p:spPr>
          <a:xfrm>
            <a:off x="1097280" y="2651760"/>
            <a:ext cx="4206240" cy="21945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2"/>
                </a:solidFill>
                <a:latin typeface="Arial" pitchFamily="34" charset="0"/>
                <a:ea typeface="Arial" pitchFamily="34" charset="-122"/>
                <a:cs typeface="Arial" pitchFamily="34" charset="-120"/>
              </a:rPr>
              <a:t>An AI host spoke to the customer</a:t>
            </a:r>
            <a:endParaRPr lang="en-US" sz="1800" dirty="0"/>
          </a:p>
          <a:p>
            <a:pPr marL="342900" indent="-342900">
              <a:spcAft>
                <a:spcPts val="1200"/>
              </a:spcAft>
              <a:buSzPct val="100000"/>
              <a:buChar char="•"/>
            </a:pPr>
            <a:r>
              <a:rPr lang="en-US" sz="1800" dirty="0">
                <a:solidFill>
                  <a:schemeClr val="tx2"/>
                </a:solidFill>
                <a:latin typeface="Arial" pitchFamily="34" charset="0"/>
                <a:ea typeface="Arial" pitchFamily="34" charset="-122"/>
                <a:cs typeface="Arial" pitchFamily="34" charset="-120"/>
              </a:rPr>
              <a:t>First demo feedback: with the advisor in the room, customers prefer the advisor</a:t>
            </a:r>
            <a:endParaRPr lang="en-US" sz="1800" dirty="0"/>
          </a:p>
        </p:txBody>
      </p:sp>
      <p:sp>
        <p:nvSpPr>
          <p:cNvPr id="7" name="Now panel"/>
          <p:cNvSpPr/>
          <p:nvPr/>
        </p:nvSpPr>
        <p:spPr>
          <a:xfrm>
            <a:off x="5943600" y="1920240"/>
            <a:ext cx="5516575" cy="2926080"/>
          </a:xfrm>
          <a:prstGeom prst="roundRect">
            <a:avLst>
              <a:gd name="adj" fmla="val 3125"/>
            </a:avLst>
          </a:prstGeom>
          <a:solidFill>
            <a:schemeClr val="bg1"/>
          </a:solidFill>
          <a:ln w="25400">
            <a:solidFill>
              <a:schemeClr val="accent1"/>
            </a:solidFill>
            <a:prstDash val="solid"/>
          </a:ln>
          <a:effectLst>
            <a:outerShdw sx="100000" sy="100000" kx="0" ky="0" algn="bl" rotWithShape="0" blurRad="177800" dist="38100" dir="5400000">
              <a:srgbClr val="000000">
                <a:alpha val="10000"/>
              </a:srgbClr>
            </a:outerShdw>
          </a:effectLst>
        </p:spPr>
      </p:sp>
      <p:sp>
        <p:nvSpPr>
          <p:cNvPr id="8" name="Now label"/>
          <p:cNvSpPr txBox="1"/>
          <p:nvPr/>
        </p:nvSpPr>
        <p:spPr>
          <a:xfrm>
            <a:off x="6309360" y="2194560"/>
            <a:ext cx="2743200" cy="365760"/>
          </a:xfrm>
          <a:prstGeom prst="rect">
            <a:avLst/>
          </a:prstGeom>
          <a:noFill/>
          <a:ln/>
        </p:spPr>
        <p:txBody>
          <a:bodyPr wrap="square" lIns="0" tIns="0" rIns="0" bIns="0" rtlCol="0" anchor="ctr"/>
          <a:lstStyle/>
          <a:p>
            <a:pPr indent="0" marL="0">
              <a:buNone/>
            </a:pPr>
            <a:r>
              <a:rPr lang="en-US" sz="1400" b="1" dirty="0">
                <a:solidFill>
                  <a:schemeClr val="accent1"/>
                </a:solidFill>
                <a:latin typeface="Arial" pitchFamily="34" charset="0"/>
                <a:ea typeface="Arial" pitchFamily="34" charset="-122"/>
                <a:cs typeface="Arial" pitchFamily="34" charset="-120"/>
              </a:rPr>
              <a:t>Now</a:t>
            </a:r>
            <a:endParaRPr lang="en-US" sz="1400" dirty="0"/>
          </a:p>
        </p:txBody>
      </p:sp>
      <p:sp>
        <p:nvSpPr>
          <p:cNvPr id="9" name="Now text"/>
          <p:cNvSpPr txBox="1"/>
          <p:nvPr/>
        </p:nvSpPr>
        <p:spPr>
          <a:xfrm>
            <a:off x="6309360" y="2651760"/>
            <a:ext cx="3779215" cy="22860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latin typeface="Arial" pitchFamily="34" charset="0"/>
                <a:ea typeface="Arial" pitchFamily="34" charset="-122"/>
                <a:cs typeface="Arial" pitchFamily="34" charset="-120"/>
              </a:rPr>
              <a:t>Juno works for the advisor, after the meeting</a:t>
            </a:r>
            <a:endParaRPr lang="en-US" sz="1800" dirty="0"/>
          </a:p>
          <a:p>
            <a:pPr marL="342900" indent="-342900">
              <a:spcAft>
                <a:spcPts val="1200"/>
              </a:spcAft>
              <a:buSzPct val="100000"/>
              <a:buChar char="•"/>
            </a:pPr>
            <a:r>
              <a:rPr lang="en-US" sz="1800" dirty="0">
                <a:solidFill>
                  <a:schemeClr val="tx1"/>
                </a:solidFill>
                <a:latin typeface="Arial" pitchFamily="34" charset="0"/>
                <a:ea typeface="Arial" pitchFamily="34" charset="-122"/>
                <a:cs typeface="Arial" pitchFamily="34" charset="-120"/>
              </a:rPr>
              <a:t>It listens, asks at most five short questions, reads back</a:t>
            </a:r>
            <a:endParaRPr lang="en-US" sz="1800" dirty="0"/>
          </a:p>
          <a:p>
            <a:pPr marL="342900" indent="-342900">
              <a:spcAft>
                <a:spcPts val="1200"/>
              </a:spcAft>
              <a:buSzPct val="100000"/>
              <a:buChar char="•"/>
            </a:pPr>
            <a:r>
              <a:rPr lang="en-US" sz="1800" dirty="0">
                <a:solidFill>
                  <a:schemeClr val="tx1"/>
                </a:solidFill>
                <a:latin typeface="Arial" pitchFamily="34" charset="0"/>
                <a:ea typeface="Arial" pitchFamily="34" charset="-122"/>
                <a:cs typeface="Arial" pitchFamily="34" charset="-120"/>
              </a:rPr>
              <a:t>Only a person can start the analysis</a:t>
            </a:r>
            <a:endParaRPr lang="en-US" sz="1800" dirty="0"/>
          </a:p>
        </p:txBody>
      </p:sp>
      <p:pic>
        <p:nvPicPr>
          <p:cNvPr id="10" name="Juno avatar" descr="Juno">    </p:cNvPr>
          <p:cNvPicPr>
            <a:picLocks noChangeAspect="1"/>
          </p:cNvPicPr>
          <p:nvPr/>
        </p:nvPicPr>
        <p:blipFill>
          <a:blip r:embed="rId1"/>
          <a:stretch>
            <a:fillRect/>
          </a:stretch>
        </p:blipFill>
        <p:spPr>
          <a:xfrm>
            <a:off x="10225735" y="2103120"/>
            <a:ext cx="868680" cy="868680"/>
          </a:xfrm>
          <a:prstGeom prst="ellipse">
            <a:avLst/>
          </a:prstGeom>
        </p:spPr>
      </p:pic>
      <p:sp>
        <p:nvSpPr>
          <p:cNvPr id="11" name="Takeaway"/>
          <p:cNvSpPr txBox="1"/>
          <p:nvPr/>
        </p:nvSpPr>
        <p:spPr>
          <a:xfrm>
            <a:off x="731520" y="5166360"/>
            <a:ext cx="10728655" cy="45720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We listened to the room. Then we changed the product.</a:t>
            </a:r>
            <a:endParaRPr lang="en-US" sz="2200" dirty="0"/>
          </a:p>
        </p:txBody>
      </p:sp>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E73"/>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1" type="title" hasCustomPrompt="1"/>
          </p:nvPr>
        </p:nvSpPr>
        <p:spPr>
          <a:xfrm>
            <a:off x="731520" y="1828800"/>
            <a:ext cx="5852160" cy="1737360"/>
          </a:xfrm>
          <a:prstGeom prst="rect">
            <a:avLst/>
          </a:prstGeom>
          <a:noFill/>
          <a:ln/>
        </p:spPr>
        <p:txBody>
          <a:bodyPr wrap="square" lIns="0" tIns="0" rIns="0" bIns="0" rtlCol="0" anchor="t"/>
          <a:lstStyle/>
          <a:p>
            <a:pPr algn="l" indent="0" marL="0">
              <a:buNone/>
            </a:pPr>
            <a:r>
              <a:rPr lang="en-US" sz="4800" b="1" dirty="0">
                <a:solidFill>
                  <a:schemeClr val="bg1"/>
                </a:solidFill>
                <a:latin typeface="Arial" pitchFamily="34" charset="0"/>
                <a:ea typeface="Arial" pitchFamily="34" charset="-122"/>
                <a:cs typeface="Arial" pitchFamily="34" charset="-120"/>
              </a:rPr>
              <a:t>Let me show you</a:t>
            </a:r>
            <a:endParaRPr lang="en-US" sz="4800" dirty="0"/>
          </a:p>
        </p:txBody>
      </p:sp>
      <p:sp>
        <p:nvSpPr>
          <p:cNvPr id="4" name="Duration"/>
          <p:cNvSpPr txBox="1"/>
          <p:nvPr/>
        </p:nvSpPr>
        <p:spPr>
          <a:xfrm>
            <a:off x="731520" y="3657600"/>
            <a:ext cx="5486400" cy="457200"/>
          </a:xfrm>
          <a:prstGeom prst="rect">
            <a:avLst/>
          </a:prstGeom>
          <a:noFill/>
          <a:ln/>
        </p:spPr>
        <p:txBody>
          <a:bodyPr wrap="square" lIns="0" tIns="0" rIns="0" bIns="0" rtlCol="0" anchor="ctr"/>
          <a:lstStyle/>
          <a:p>
            <a:pPr indent="0" marL="0">
              <a:buNone/>
            </a:pPr>
            <a:r>
              <a:rPr lang="en-US" sz="2200" dirty="0">
                <a:solidFill>
                  <a:srgbClr val="A1A1A6"/>
                </a:solidFill>
                <a:latin typeface="Arial" pitchFamily="34" charset="0"/>
                <a:ea typeface="Arial" pitchFamily="34" charset="-122"/>
                <a:cs typeface="Arial" pitchFamily="34" charset="-120"/>
              </a:rPr>
              <a:t>Six minutes. Live.</a:t>
            </a:r>
            <a:endParaRPr lang="en-US" sz="2200" dirty="0"/>
          </a:p>
        </p:txBody>
      </p:sp>
      <p:sp>
        <p:nvSpPr>
          <p:cNvPr id="5" name="Shape 2"/>
          <p:cNvSpPr/>
          <p:nvPr/>
        </p:nvSpPr>
        <p:spPr>
          <a:xfrm>
            <a:off x="6675120" y="1691640"/>
            <a:ext cx="731520" cy="731520"/>
          </a:xfrm>
          <a:prstGeom prst="ellipse">
            <a:avLst/>
          </a:prstGeom>
          <a:solidFill>
            <a:srgbClr val="D31145"/>
          </a:solidFill>
          <a:ln/>
        </p:spPr>
      </p:sp>
      <p:sp>
        <p:nvSpPr>
          <p:cNvPr id="6" name="Act 1 number"/>
          <p:cNvSpPr txBox="1"/>
          <p:nvPr/>
        </p:nvSpPr>
        <p:spPr>
          <a:xfrm>
            <a:off x="6675120" y="16916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Arial" pitchFamily="34" charset="0"/>
                <a:ea typeface="Arial" pitchFamily="34" charset="-122"/>
                <a:cs typeface="Arial" pitchFamily="34" charset="-120"/>
              </a:rPr>
              <a:t>1</a:t>
            </a:r>
            <a:endParaRPr lang="en-US" sz="2600" dirty="0"/>
          </a:p>
        </p:txBody>
      </p:sp>
      <p:sp>
        <p:nvSpPr>
          <p:cNvPr id="7" name="Act 1"/>
          <p:cNvSpPr txBox="1"/>
          <p:nvPr/>
        </p:nvSpPr>
        <p:spPr>
          <a:xfrm>
            <a:off x="7635240" y="1673352"/>
            <a:ext cx="3840480" cy="411480"/>
          </a:xfrm>
          <a:prstGeom prst="rect">
            <a:avLst/>
          </a:prstGeom>
          <a:noFill/>
          <a:ln/>
        </p:spPr>
        <p:txBody>
          <a:bodyPr wrap="square" lIns="0" tIns="0" rIns="0" bIns="0" rtlCol="0" anchor="ctr"/>
          <a:lstStyle/>
          <a:p>
            <a:pPr indent="0" marL="0">
              <a:buNone/>
            </a:pPr>
            <a:r>
              <a:rPr lang="en-US" sz="2400" b="1" dirty="0">
                <a:solidFill>
                  <a:schemeClr val="bg1"/>
                </a:solidFill>
                <a:latin typeface="Arial" pitchFamily="34" charset="0"/>
                <a:ea typeface="Arial" pitchFamily="34" charset="-122"/>
                <a:cs typeface="Arial" pitchFamily="34" charset="-120"/>
              </a:rPr>
              <a:t>Debrief with Juno</a:t>
            </a:r>
            <a:endParaRPr lang="en-US" sz="2400" dirty="0"/>
          </a:p>
        </p:txBody>
      </p:sp>
      <p:sp>
        <p:nvSpPr>
          <p:cNvPr id="8" name="Act 1 sub"/>
          <p:cNvSpPr txBox="1"/>
          <p:nvPr/>
        </p:nvSpPr>
        <p:spPr>
          <a:xfrm>
            <a:off x="7635240" y="2103120"/>
            <a:ext cx="3840480" cy="365760"/>
          </a:xfrm>
          <a:prstGeom prst="rect">
            <a:avLst/>
          </a:prstGeom>
          <a:noFill/>
          <a:ln/>
        </p:spPr>
        <p:txBody>
          <a:bodyPr wrap="square" lIns="0" tIns="0" rIns="0" bIns="0" rtlCol="0" anchor="ctr"/>
          <a:lstStyle/>
          <a:p>
            <a:pPr indent="0" marL="0">
              <a:buNone/>
            </a:pPr>
            <a:r>
              <a:rPr lang="en-US" sz="1600" dirty="0">
                <a:solidFill>
                  <a:srgbClr val="A1A1A6"/>
                </a:solidFill>
                <a:latin typeface="Arial" pitchFamily="34" charset="0"/>
                <a:ea typeface="Arial" pitchFamily="34" charset="-122"/>
                <a:cs typeface="Arial" pitchFamily="34" charset="-120"/>
              </a:rPr>
              <a:t>Talk. Juno asks only what is missing.</a:t>
            </a:r>
            <a:endParaRPr lang="en-US" sz="1600" dirty="0"/>
          </a:p>
        </p:txBody>
      </p:sp>
      <p:sp>
        <p:nvSpPr>
          <p:cNvPr id="9" name="Shape 6"/>
          <p:cNvSpPr/>
          <p:nvPr/>
        </p:nvSpPr>
        <p:spPr>
          <a:xfrm>
            <a:off x="6675120" y="3154680"/>
            <a:ext cx="731520" cy="731520"/>
          </a:xfrm>
          <a:prstGeom prst="ellipse">
            <a:avLst/>
          </a:prstGeom>
          <a:solidFill>
            <a:srgbClr val="D31145"/>
          </a:solidFill>
          <a:ln/>
        </p:spPr>
      </p:sp>
      <p:sp>
        <p:nvSpPr>
          <p:cNvPr id="10" name="Act 2 number"/>
          <p:cNvSpPr txBox="1"/>
          <p:nvPr/>
        </p:nvSpPr>
        <p:spPr>
          <a:xfrm>
            <a:off x="6675120" y="315468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Arial" pitchFamily="34" charset="0"/>
                <a:ea typeface="Arial" pitchFamily="34" charset="-122"/>
                <a:cs typeface="Arial" pitchFamily="34" charset="-120"/>
              </a:rPr>
              <a:t>2</a:t>
            </a:r>
            <a:endParaRPr lang="en-US" sz="2600" dirty="0"/>
          </a:p>
        </p:txBody>
      </p:sp>
      <p:sp>
        <p:nvSpPr>
          <p:cNvPr id="11" name="Act 2"/>
          <p:cNvSpPr txBox="1"/>
          <p:nvPr/>
        </p:nvSpPr>
        <p:spPr>
          <a:xfrm>
            <a:off x="7635240" y="3136392"/>
            <a:ext cx="3840480" cy="411480"/>
          </a:xfrm>
          <a:prstGeom prst="rect">
            <a:avLst/>
          </a:prstGeom>
          <a:noFill/>
          <a:ln/>
        </p:spPr>
        <p:txBody>
          <a:bodyPr wrap="square" lIns="0" tIns="0" rIns="0" bIns="0" rtlCol="0" anchor="ctr"/>
          <a:lstStyle/>
          <a:p>
            <a:pPr indent="0" marL="0">
              <a:buNone/>
            </a:pPr>
            <a:r>
              <a:rPr lang="en-US" sz="2400" b="1" dirty="0">
                <a:solidFill>
                  <a:schemeClr val="bg1"/>
                </a:solidFill>
                <a:latin typeface="Arial" pitchFamily="34" charset="0"/>
                <a:ea typeface="Arial" pitchFamily="34" charset="-122"/>
                <a:cs typeface="Arial" pitchFamily="34" charset="-120"/>
              </a:rPr>
              <a:t>Sign off</a:t>
            </a:r>
            <a:endParaRPr lang="en-US" sz="2400" dirty="0"/>
          </a:p>
        </p:txBody>
      </p:sp>
      <p:sp>
        <p:nvSpPr>
          <p:cNvPr id="12" name="Act 2 sub"/>
          <p:cNvSpPr txBox="1"/>
          <p:nvPr/>
        </p:nvSpPr>
        <p:spPr>
          <a:xfrm>
            <a:off x="7635240" y="3566160"/>
            <a:ext cx="3840480" cy="365760"/>
          </a:xfrm>
          <a:prstGeom prst="rect">
            <a:avLst/>
          </a:prstGeom>
          <a:noFill/>
          <a:ln/>
        </p:spPr>
        <p:txBody>
          <a:bodyPr wrap="square" lIns="0" tIns="0" rIns="0" bIns="0" rtlCol="0" anchor="ctr"/>
          <a:lstStyle/>
          <a:p>
            <a:pPr indent="0" marL="0">
              <a:buNone/>
            </a:pPr>
            <a:r>
              <a:rPr lang="en-US" sz="1600" dirty="0">
                <a:solidFill>
                  <a:srgbClr val="A1A1A6"/>
                </a:solidFill>
                <a:latin typeface="Arial" pitchFamily="34" charset="0"/>
                <a:ea typeface="Arial" pitchFamily="34" charset="-122"/>
                <a:cs typeface="Arial" pitchFamily="34" charset="-120"/>
              </a:rPr>
              <a:t>The advisor decides. Not the AI.</a:t>
            </a:r>
            <a:endParaRPr lang="en-US" sz="1600" dirty="0"/>
          </a:p>
        </p:txBody>
      </p:sp>
      <p:sp>
        <p:nvSpPr>
          <p:cNvPr id="13" name="Shape 10"/>
          <p:cNvSpPr/>
          <p:nvPr/>
        </p:nvSpPr>
        <p:spPr>
          <a:xfrm>
            <a:off x="6675120" y="4617720"/>
            <a:ext cx="731520" cy="731520"/>
          </a:xfrm>
          <a:prstGeom prst="ellipse">
            <a:avLst/>
          </a:prstGeom>
          <a:solidFill>
            <a:srgbClr val="D31145"/>
          </a:solidFill>
          <a:ln/>
        </p:spPr>
      </p:sp>
      <p:sp>
        <p:nvSpPr>
          <p:cNvPr id="14" name="Act 3 number"/>
          <p:cNvSpPr txBox="1"/>
          <p:nvPr/>
        </p:nvSpPr>
        <p:spPr>
          <a:xfrm>
            <a:off x="6675120" y="461772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Arial" pitchFamily="34" charset="0"/>
                <a:ea typeface="Arial" pitchFamily="34" charset="-122"/>
                <a:cs typeface="Arial" pitchFamily="34" charset="-120"/>
              </a:rPr>
              <a:t>3</a:t>
            </a:r>
            <a:endParaRPr lang="en-US" sz="2600" dirty="0"/>
          </a:p>
        </p:txBody>
      </p:sp>
      <p:sp>
        <p:nvSpPr>
          <p:cNvPr id="15" name="Act 3"/>
          <p:cNvSpPr txBox="1"/>
          <p:nvPr/>
        </p:nvSpPr>
        <p:spPr>
          <a:xfrm>
            <a:off x="7635240" y="4599432"/>
            <a:ext cx="3840480" cy="411480"/>
          </a:xfrm>
          <a:prstGeom prst="rect">
            <a:avLst/>
          </a:prstGeom>
          <a:noFill/>
          <a:ln/>
        </p:spPr>
        <p:txBody>
          <a:bodyPr wrap="square" lIns="0" tIns="0" rIns="0" bIns="0" rtlCol="0" anchor="ctr"/>
          <a:lstStyle/>
          <a:p>
            <a:pPr indent="0" marL="0">
              <a:buNone/>
            </a:pPr>
            <a:r>
              <a:rPr lang="en-US" sz="2400" b="1" dirty="0">
                <a:solidFill>
                  <a:schemeClr val="bg1"/>
                </a:solidFill>
                <a:latin typeface="Arial" pitchFamily="34" charset="0"/>
                <a:ea typeface="Arial" pitchFamily="34" charset="-122"/>
                <a:cs typeface="Arial" pitchFamily="34" charset="-120"/>
              </a:rPr>
              <a:t>One more thing</a:t>
            </a:r>
            <a:endParaRPr lang="en-US" sz="2400" dirty="0"/>
          </a:p>
        </p:txBody>
      </p:sp>
      <p:sp>
        <p:nvSpPr>
          <p:cNvPr id="16" name="Act 3 sub"/>
          <p:cNvSpPr txBox="1"/>
          <p:nvPr/>
        </p:nvSpPr>
        <p:spPr>
          <a:xfrm>
            <a:off x="7635240" y="5029200"/>
            <a:ext cx="3840480" cy="365760"/>
          </a:xfrm>
          <a:prstGeom prst="rect">
            <a:avLst/>
          </a:prstGeom>
          <a:noFill/>
          <a:ln/>
        </p:spPr>
        <p:txBody>
          <a:bodyPr wrap="square" lIns="0" tIns="0" rIns="0" bIns="0" rtlCol="0" anchor="ctr"/>
          <a:lstStyle/>
          <a:p>
            <a:pPr indent="0" marL="0">
              <a:buNone/>
            </a:pPr>
            <a:r>
              <a:rPr lang="en-US" sz="1600" dirty="0">
                <a:solidFill>
                  <a:srgbClr val="A1A1A6"/>
                </a:solidFill>
                <a:latin typeface="Arial" pitchFamily="34" charset="0"/>
                <a:ea typeface="Arial" pitchFamily="34" charset="-122"/>
                <a:cs typeface="Arial" pitchFamily="34" charset="-120"/>
              </a:rPr>
              <a:t>Practise the next meeting.</a:t>
            </a:r>
            <a:endParaRPr lang="en-US" sz="1600" dirty="0"/>
          </a:p>
        </p:txBody>
      </p:sp>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1A1A6"/>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1" type="title" hasCustomPrompt="1"/>
          </p:nvPr>
        </p:nvSpPr>
        <p:spPr>
          <a:xfrm>
            <a:off x="731520" y="502920"/>
            <a:ext cx="3840480" cy="219456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Juno listens, then asks only what is missing</a:t>
            </a:r>
            <a:endParaRPr lang="en-US" sz="3200" dirty="0"/>
          </a:p>
        </p:txBody>
      </p:sp>
      <p:sp>
        <p:nvSpPr>
          <p:cNvPr id="4" name="Debrief points"/>
          <p:cNvSpPr txBox="1"/>
          <p:nvPr/>
        </p:nvSpPr>
        <p:spPr>
          <a:xfrm>
            <a:off x="731520" y="2971800"/>
            <a:ext cx="3657600" cy="274320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latin typeface="Arial" pitchFamily="34" charset="0"/>
                <a:ea typeface="Arial" pitchFamily="34" charset="-122"/>
                <a:cs typeface="Arial" pitchFamily="34" charset="-120"/>
              </a:rPr>
              <a:t>Every fact appears with the words it came from</a:t>
            </a:r>
            <a:endParaRPr lang="en-US" sz="1600" dirty="0"/>
          </a:p>
          <a:p>
            <a:pPr marL="342900" indent="-342900">
              <a:spcAft>
                <a:spcPts val="1400"/>
              </a:spcAft>
              <a:buSzPct val="100000"/>
              <a:buChar char="•"/>
            </a:pPr>
            <a:r>
              <a:rPr lang="en-US" sz="1600" dirty="0">
                <a:solidFill>
                  <a:schemeClr val="tx1"/>
                </a:solidFill>
                <a:latin typeface="Arial" pitchFamily="34" charset="0"/>
                <a:ea typeface="Arial" pitchFamily="34" charset="-122"/>
                <a:cs typeface="Arial" pitchFamily="34" charset="-120"/>
              </a:rPr>
              <a:t>Juno catches a promise and offers a compliant way to record it</a:t>
            </a:r>
            <a:endParaRPr lang="en-US" sz="1600" dirty="0"/>
          </a:p>
          <a:p>
            <a:pPr marL="342900" indent="-342900">
              <a:spcAft>
                <a:spcPts val="1400"/>
              </a:spcAft>
              <a:buSzPct val="100000"/>
              <a:buChar char="•"/>
            </a:pPr>
            <a:r>
              <a:rPr lang="en-US" sz="1600" dirty="0">
                <a:solidFill>
                  <a:schemeClr val="tx1"/>
                </a:solidFill>
                <a:latin typeface="Arial" pitchFamily="34" charset="0"/>
                <a:ea typeface="Arial" pitchFamily="34" charset="-122"/>
                <a:cs typeface="Arial" pitchFamily="34" charset="-120"/>
              </a:rPr>
              <a:t>At most five questions. Always skippable</a:t>
            </a:r>
            <a:endParaRPr lang="en-US" sz="1600" dirty="0"/>
          </a:p>
        </p:txBody>
      </p:sp>
      <p:sp>
        <p:nvSpPr>
          <p:cNvPr id="5" name="Juno debrief screen frame"/>
          <p:cNvSpPr/>
          <p:nvPr/>
        </p:nvSpPr>
        <p:spPr>
          <a:xfrm>
            <a:off x="4700016" y="1179576"/>
            <a:ext cx="6922008" cy="3866500"/>
          </a:xfrm>
          <a:prstGeom prst="roundRect">
            <a:avLst>
              <a:gd name="adj" fmla="val 1892"/>
            </a:avLst>
          </a:prstGeom>
          <a:solidFill>
            <a:schemeClr val="bg1"/>
          </a:solidFill>
          <a:ln/>
          <a:effectLst>
            <a:outerShdw sx="100000" sy="100000" kx="0" ky="0" algn="bl" rotWithShape="0" blurRad="177800" dist="38100" dir="5400000">
              <a:srgbClr val="000000">
                <a:alpha val="10000"/>
              </a:srgbClr>
            </a:outerShdw>
          </a:effectLst>
        </p:spPr>
      </p:sp>
      <p:pic>
        <p:nvPicPr>
          <p:cNvPr id="6" name="Juno debrief screen" descr="Juno debrief screen">    </p:cNvPr>
          <p:cNvPicPr>
            <a:picLocks noChangeAspect="1"/>
          </p:cNvPicPr>
          <p:nvPr/>
        </p:nvPicPr>
        <p:blipFill>
          <a:blip r:embed="rId1"/>
          <a:stretch>
            <a:fillRect/>
          </a:stretch>
        </p:blipFill>
        <p:spPr>
          <a:xfrm>
            <a:off x="4754880" y="1234440"/>
            <a:ext cx="6812280" cy="3756772"/>
          </a:xfrm>
          <a:prstGeom prst="rect">
            <a:avLst/>
          </a:prstGeom>
        </p:spPr>
      </p:pic>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E73"/>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1" type="title" hasCustomPrompt="1"/>
          </p:nvPr>
        </p:nvSpPr>
        <p:spPr>
          <a:xfrm>
            <a:off x="731520" y="502920"/>
            <a:ext cx="3840480" cy="219456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The advisor signs off. Not the AI</a:t>
            </a:r>
            <a:endParaRPr lang="en-US" sz="3200" dirty="0"/>
          </a:p>
        </p:txBody>
      </p:sp>
      <p:sp>
        <p:nvSpPr>
          <p:cNvPr id="4" name="Sign-off points"/>
          <p:cNvSpPr txBox="1"/>
          <p:nvPr/>
        </p:nvSpPr>
        <p:spPr>
          <a:xfrm>
            <a:off x="731520" y="2971800"/>
            <a:ext cx="3657600" cy="274320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latin typeface="Arial" pitchFamily="34" charset="0"/>
                <a:ea typeface="Arial" pitchFamily="34" charset="-122"/>
                <a:cs typeface="Arial" pitchFamily="34" charset="-120"/>
              </a:rPr>
              <a:t>Names, numbers and promises marked where they were said</a:t>
            </a:r>
            <a:endParaRPr lang="en-US" sz="1600" dirty="0"/>
          </a:p>
          <a:p>
            <a:pPr marL="342900" indent="-342900">
              <a:spcAft>
                <a:spcPts val="1400"/>
              </a:spcAft>
              <a:buSzPct val="100000"/>
              <a:buChar char="•"/>
            </a:pPr>
            <a:r>
              <a:rPr lang="en-US" sz="1600" dirty="0">
                <a:solidFill>
                  <a:schemeClr val="tx1"/>
                </a:solidFill>
                <a:latin typeface="Arial" pitchFamily="34" charset="0"/>
                <a:ea typeface="Arial" pitchFamily="34" charset="-122"/>
                <a:cs typeface="Arial" pitchFamily="34" charset="-120"/>
              </a:rPr>
              <a:t>One tap to confirm or fix a fact</a:t>
            </a:r>
            <a:endParaRPr lang="en-US" sz="1600" dirty="0"/>
          </a:p>
          <a:p>
            <a:pPr marL="342900" indent="-342900">
              <a:spcAft>
                <a:spcPts val="1400"/>
              </a:spcAft>
              <a:buSzPct val="100000"/>
              <a:buChar char="•"/>
            </a:pPr>
            <a:r>
              <a:rPr lang="en-US" sz="1600" dirty="0">
                <a:solidFill>
                  <a:schemeClr val="tx1"/>
                </a:solidFill>
                <a:latin typeface="Arial" pitchFamily="34" charset="0"/>
                <a:ea typeface="Arial" pitchFamily="34" charset="-122"/>
                <a:cs typeface="Arial" pitchFamily="34" charset="-120"/>
              </a:rPr>
              <a:t>One button starts the analysis. Only a person can press it</a:t>
            </a:r>
            <a:endParaRPr lang="en-US" sz="1600" dirty="0"/>
          </a:p>
        </p:txBody>
      </p:sp>
      <p:sp>
        <p:nvSpPr>
          <p:cNvPr id="5" name="Sign-off screen frame"/>
          <p:cNvSpPr/>
          <p:nvPr/>
        </p:nvSpPr>
        <p:spPr>
          <a:xfrm>
            <a:off x="4700016" y="1316736"/>
            <a:ext cx="6922008" cy="3716229"/>
          </a:xfrm>
          <a:prstGeom prst="roundRect">
            <a:avLst>
              <a:gd name="adj" fmla="val 1968"/>
            </a:avLst>
          </a:prstGeom>
          <a:solidFill>
            <a:schemeClr val="bg1"/>
          </a:solidFill>
          <a:ln/>
          <a:effectLst>
            <a:outerShdw sx="100000" sy="100000" kx="0" ky="0" algn="bl" rotWithShape="0" blurRad="177800" dist="38100" dir="5400000">
              <a:srgbClr val="000000">
                <a:alpha val="10000"/>
              </a:srgbClr>
            </a:outerShdw>
          </a:effectLst>
        </p:spPr>
      </p:sp>
      <p:pic>
        <p:nvPicPr>
          <p:cNvPr id="6" name="Sign-off screen" descr="Sign-off screen">    </p:cNvPr>
          <p:cNvPicPr>
            <a:picLocks noChangeAspect="1"/>
          </p:cNvPicPr>
          <p:nvPr/>
        </p:nvPicPr>
        <p:blipFill>
          <a:blip r:embed="rId1"/>
          <a:stretch>
            <a:fillRect/>
          </a:stretch>
        </p:blipFill>
        <p:spPr>
          <a:xfrm>
            <a:off x="4754880" y="1371600"/>
            <a:ext cx="6812280" cy="3606501"/>
          </a:xfrm>
          <a:prstGeom prst="rect">
            <a:avLst/>
          </a:prstGeom>
        </p:spPr>
      </p:pic>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E73"/>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1" type="title" hasCustomPrompt="1"/>
          </p:nvPr>
        </p:nvSpPr>
        <p:spPr>
          <a:xfrm>
            <a:off x="731520" y="502920"/>
            <a:ext cx="10728655" cy="12344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One more thing: practise before it counts</a:t>
            </a:r>
            <a:endParaRPr lang="en-US" sz="3600" dirty="0"/>
          </a:p>
        </p:txBody>
      </p:sp>
      <p:sp>
        <p:nvSpPr>
          <p:cNvPr id="4" name="Rehearsal with live coach flag frame"/>
          <p:cNvSpPr/>
          <p:nvPr/>
        </p:nvSpPr>
        <p:spPr>
          <a:xfrm>
            <a:off x="731520" y="1819656"/>
            <a:ext cx="5321808" cy="2353007"/>
          </a:xfrm>
          <a:prstGeom prst="roundRect">
            <a:avLst>
              <a:gd name="adj" fmla="val 3109"/>
            </a:avLst>
          </a:prstGeom>
          <a:solidFill>
            <a:schemeClr val="bg1"/>
          </a:solidFill>
          <a:ln/>
          <a:effectLst>
            <a:outerShdw sx="100000" sy="100000" kx="0" ky="0" algn="bl" rotWithShape="0" blurRad="177800" dist="38100" dir="5400000">
              <a:srgbClr val="000000">
                <a:alpha val="10000"/>
              </a:srgbClr>
            </a:outerShdw>
          </a:effectLst>
        </p:spPr>
      </p:sp>
      <p:pic>
        <p:nvPicPr>
          <p:cNvPr id="5" name="Rehearsal with live coach flag" descr="Rehearsal with live coach flag">    </p:cNvPr>
          <p:cNvPicPr>
            <a:picLocks noChangeAspect="1"/>
          </p:cNvPicPr>
          <p:nvPr/>
        </p:nvPicPr>
        <p:blipFill>
          <a:blip r:embed="rId1"/>
          <a:stretch>
            <a:fillRect/>
          </a:stretch>
        </p:blipFill>
        <p:spPr>
          <a:xfrm>
            <a:off x="786384" y="1874520"/>
            <a:ext cx="5212080" cy="2243279"/>
          </a:xfrm>
          <a:prstGeom prst="rect">
            <a:avLst/>
          </a:prstGeom>
        </p:spPr>
      </p:pic>
      <p:sp>
        <p:nvSpPr>
          <p:cNvPr id="6" name="Coach notes frame"/>
          <p:cNvSpPr/>
          <p:nvPr/>
        </p:nvSpPr>
        <p:spPr>
          <a:xfrm>
            <a:off x="6355080" y="1819656"/>
            <a:ext cx="5321808" cy="2636544"/>
          </a:xfrm>
          <a:prstGeom prst="roundRect">
            <a:avLst>
              <a:gd name="adj" fmla="val 2775"/>
            </a:avLst>
          </a:prstGeom>
          <a:solidFill>
            <a:schemeClr val="bg1"/>
          </a:solidFill>
          <a:ln/>
          <a:effectLst>
            <a:outerShdw sx="100000" sy="100000" kx="0" ky="0" algn="bl" rotWithShape="0" blurRad="177800" dist="38100" dir="5400000">
              <a:srgbClr val="000000">
                <a:alpha val="10000"/>
              </a:srgbClr>
            </a:outerShdw>
          </a:effectLst>
        </p:spPr>
      </p:sp>
      <p:pic>
        <p:nvPicPr>
          <p:cNvPr id="7" name="Coach notes" descr="Coach notes">    </p:cNvPr>
          <p:cNvPicPr>
            <a:picLocks noChangeAspect="1"/>
          </p:cNvPicPr>
          <p:nvPr/>
        </p:nvPicPr>
        <p:blipFill>
          <a:blip r:embed="rId2"/>
          <a:stretch>
            <a:fillRect/>
          </a:stretch>
        </p:blipFill>
        <p:spPr>
          <a:xfrm>
            <a:off x="6409944" y="1874520"/>
            <a:ext cx="5212080" cy="2526816"/>
          </a:xfrm>
          <a:prstGeom prst="rect">
            <a:avLst/>
          </a:prstGeom>
        </p:spPr>
      </p:pic>
      <p:sp>
        <p:nvSpPr>
          <p:cNvPr id="8" name="Caption left"/>
          <p:cNvSpPr txBox="1"/>
          <p:nvPr/>
        </p:nvSpPr>
        <p:spPr>
          <a:xfrm>
            <a:off x="731520" y="4629936"/>
            <a:ext cx="5303520" cy="64008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Juno plays the customer. A coach flags a risky promise the moment it is said.</a:t>
            </a:r>
            <a:endParaRPr lang="en-US" sz="1400" dirty="0"/>
          </a:p>
        </p:txBody>
      </p:sp>
      <p:sp>
        <p:nvSpPr>
          <p:cNvPr id="9" name="Caption right"/>
          <p:cNvSpPr txBox="1"/>
          <p:nvPr/>
        </p:nvSpPr>
        <p:spPr>
          <a:xfrm>
            <a:off x="6355080" y="4629936"/>
            <a:ext cx="5212080" cy="64008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Afterwards: what landed, what was missed, and what to say instead.</a:t>
            </a:r>
            <a:endParaRPr lang="en-US" sz="1400" dirty="0"/>
          </a:p>
        </p:txBody>
      </p:sp>
      <p:sp>
        <p:nvSpPr>
          <p:cNvPr id="10" name="Training note"/>
          <p:cNvSpPr txBox="1"/>
          <p:nvPr/>
        </p:nvSpPr>
        <p:spPr>
          <a:xfrm>
            <a:off x="731520" y="5897880"/>
            <a:ext cx="8716975" cy="274320"/>
          </a:xfrm>
          <a:prstGeom prst="rect">
            <a:avLst/>
          </a:prstGeom>
          <a:noFill/>
          <a:ln/>
        </p:spPr>
        <p:txBody>
          <a:bodyPr wrap="square" lIns="0" tIns="0" rIns="0" bIns="0" rtlCol="0" anchor="ctr"/>
          <a:lstStyle/>
          <a:p>
            <a:pPr indent="0" marL="0">
              <a:buNone/>
            </a:pPr>
            <a:r>
              <a:rPr lang="en-US" sz="1200" i="1" dirty="0">
                <a:solidFill>
                  <a:schemeClr val="tx2"/>
                </a:solidFill>
                <a:latin typeface="Arial" pitchFamily="34" charset="0"/>
                <a:ea typeface="Arial" pitchFamily="34" charset="-122"/>
                <a:cs typeface="Arial" pitchFamily="34" charset="-120"/>
              </a:rPr>
              <a:t>Training only: a simulation built from the debrief. Nothing is saved or sent.</a:t>
            </a:r>
            <a:endParaRPr lang="en-US" sz="1200" dirty="0"/>
          </a:p>
        </p:txBody>
      </p:sp>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E73"/>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1" type="title" hasCustomPrompt="1"/>
          </p:nvPr>
        </p:nvSpPr>
        <p:spPr>
          <a:xfrm>
            <a:off x="731520" y="502920"/>
            <a:ext cx="10728655" cy="12344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The advisor decides. Always</a:t>
            </a:r>
            <a:endParaRPr lang="en-US" sz="3600" dirty="0"/>
          </a:p>
        </p:txBody>
      </p:sp>
      <p:sp>
        <p:nvSpPr>
          <p:cNvPr id="4" name="Juno speaks only to the advisor card"/>
          <p:cNvSpPr/>
          <p:nvPr/>
        </p:nvSpPr>
        <p:spPr>
          <a:xfrm>
            <a:off x="731520" y="1645920"/>
            <a:ext cx="5257800" cy="1143000"/>
          </a:xfrm>
          <a:prstGeom prst="roundRect">
            <a:avLst>
              <a:gd name="adj" fmla="val 8000"/>
            </a:avLst>
          </a:prstGeom>
          <a:solidFill>
            <a:schemeClr val="bg2"/>
          </a:solidFill>
          <a:ln/>
          <a:effectLst>
            <a:outerShdw sx="100000" sy="100000" kx="0" ky="0" algn="bl" rotWithShape="0" blurRad="177800" dist="38100" dir="5400000">
              <a:srgbClr val="000000">
                <a:alpha val="10000"/>
              </a:srgbClr>
            </a:outerShdw>
          </a:effectLst>
        </p:spPr>
      </p:sp>
      <p:sp>
        <p:nvSpPr>
          <p:cNvPr id="5" name="Shape 2"/>
          <p:cNvSpPr/>
          <p:nvPr/>
        </p:nvSpPr>
        <p:spPr>
          <a:xfrm>
            <a:off x="1005840" y="1892808"/>
            <a:ext cx="658368" cy="658368"/>
          </a:xfrm>
          <a:prstGeom prst="ellipse">
            <a:avLst/>
          </a:prstGeom>
          <a:solidFill>
            <a:srgbClr val="D31145"/>
          </a:solidFill>
          <a:ln/>
        </p:spPr>
      </p:sp>
      <p:pic>
        <p:nvPicPr>
          <p:cNvPr id="6" name="Juno speaks only to the advisor icon" descr="Juno speaks only to the advisor">    </p:cNvPr>
          <p:cNvPicPr>
            <a:picLocks noChangeAspect="1"/>
          </p:cNvPicPr>
          <p:nvPr/>
        </p:nvPicPr>
        <p:blipFill>
          <a:blip r:embed="rId1"/>
          <a:stretch>
            <a:fillRect/>
          </a:stretch>
        </p:blipFill>
        <p:spPr>
          <a:xfrm>
            <a:off x="1179576" y="2066544"/>
            <a:ext cx="310896" cy="310896"/>
          </a:xfrm>
          <a:prstGeom prst="rect">
            <a:avLst/>
          </a:prstGeom>
        </p:spPr>
      </p:pic>
      <p:sp>
        <p:nvSpPr>
          <p:cNvPr id="7" name="Juno speaks only to the advisor"/>
          <p:cNvSpPr txBox="1"/>
          <p:nvPr/>
        </p:nvSpPr>
        <p:spPr>
          <a:xfrm>
            <a:off x="1920240" y="1828800"/>
            <a:ext cx="3886200" cy="36576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Juno speaks only to the advisor</a:t>
            </a:r>
            <a:endParaRPr lang="en-US" sz="1700" dirty="0"/>
          </a:p>
        </p:txBody>
      </p:sp>
      <p:sp>
        <p:nvSpPr>
          <p:cNvPr id="8" name="Juno speaks only to the advisor detail"/>
          <p:cNvSpPr txBox="1"/>
          <p:nvPr/>
        </p:nvSpPr>
        <p:spPr>
          <a:xfrm>
            <a:off x="1920240" y="2212848"/>
            <a:ext cx="3886200" cy="5029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Never to the customer.</a:t>
            </a:r>
            <a:endParaRPr lang="en-US" sz="1400" dirty="0"/>
          </a:p>
        </p:txBody>
      </p:sp>
      <p:sp>
        <p:nvSpPr>
          <p:cNvPr id="9" name="No prices, no returns, no products card"/>
          <p:cNvSpPr/>
          <p:nvPr/>
        </p:nvSpPr>
        <p:spPr>
          <a:xfrm>
            <a:off x="6199632" y="1645920"/>
            <a:ext cx="5257800" cy="1143000"/>
          </a:xfrm>
          <a:prstGeom prst="roundRect">
            <a:avLst>
              <a:gd name="adj" fmla="val 8000"/>
            </a:avLst>
          </a:prstGeom>
          <a:solidFill>
            <a:schemeClr val="bg2"/>
          </a:solidFill>
          <a:ln/>
          <a:effectLst>
            <a:outerShdw sx="100000" sy="100000" kx="0" ky="0" algn="bl" rotWithShape="0" blurRad="177800" dist="38100" dir="5400000">
              <a:srgbClr val="000000">
                <a:alpha val="10000"/>
              </a:srgbClr>
            </a:outerShdw>
          </a:effectLst>
        </p:spPr>
      </p:sp>
      <p:sp>
        <p:nvSpPr>
          <p:cNvPr id="10" name="Shape 6"/>
          <p:cNvSpPr/>
          <p:nvPr/>
        </p:nvSpPr>
        <p:spPr>
          <a:xfrm>
            <a:off x="6473952" y="1892808"/>
            <a:ext cx="658368" cy="658368"/>
          </a:xfrm>
          <a:prstGeom prst="ellipse">
            <a:avLst/>
          </a:prstGeom>
          <a:solidFill>
            <a:srgbClr val="D31145"/>
          </a:solidFill>
          <a:ln/>
        </p:spPr>
      </p:sp>
      <p:pic>
        <p:nvPicPr>
          <p:cNvPr id="11" name="No prices, no returns, no products icon" descr="No prices, no returns, no products">    </p:cNvPr>
          <p:cNvPicPr>
            <a:picLocks noChangeAspect="1"/>
          </p:cNvPicPr>
          <p:nvPr/>
        </p:nvPicPr>
        <p:blipFill>
          <a:blip r:embed="rId2"/>
          <a:stretch>
            <a:fillRect/>
          </a:stretch>
        </p:blipFill>
        <p:spPr>
          <a:xfrm>
            <a:off x="6647688" y="2066544"/>
            <a:ext cx="310896" cy="310896"/>
          </a:xfrm>
          <a:prstGeom prst="rect">
            <a:avLst/>
          </a:prstGeom>
        </p:spPr>
      </p:pic>
      <p:sp>
        <p:nvSpPr>
          <p:cNvPr id="12" name="No prices, no returns, no products"/>
          <p:cNvSpPr txBox="1"/>
          <p:nvPr/>
        </p:nvSpPr>
        <p:spPr>
          <a:xfrm>
            <a:off x="7388352" y="1828800"/>
            <a:ext cx="3886200" cy="36576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No prices, no returns, no products</a:t>
            </a:r>
            <a:endParaRPr lang="en-US" sz="1700" dirty="0"/>
          </a:p>
        </p:txBody>
      </p:sp>
      <p:sp>
        <p:nvSpPr>
          <p:cNvPr id="13" name="No prices, no returns, no products detail"/>
          <p:cNvSpPr txBox="1"/>
          <p:nvPr/>
        </p:nvSpPr>
        <p:spPr>
          <a:xfrm>
            <a:off x="7388352" y="2212848"/>
            <a:ext cx="3886200" cy="5029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It never quotes a figure or pushes a product.</a:t>
            </a:r>
            <a:endParaRPr lang="en-US" sz="1400" dirty="0"/>
          </a:p>
        </p:txBody>
      </p:sp>
      <p:sp>
        <p:nvSpPr>
          <p:cNvPr id="14" name="&quot;Suggest&quot;, never &quot;recommend&quot; card"/>
          <p:cNvSpPr/>
          <p:nvPr/>
        </p:nvSpPr>
        <p:spPr>
          <a:xfrm>
            <a:off x="731520" y="2953512"/>
            <a:ext cx="5257800" cy="1143000"/>
          </a:xfrm>
          <a:prstGeom prst="roundRect">
            <a:avLst>
              <a:gd name="adj" fmla="val 8000"/>
            </a:avLst>
          </a:prstGeom>
          <a:solidFill>
            <a:schemeClr val="bg2"/>
          </a:solidFill>
          <a:ln/>
          <a:effectLst>
            <a:outerShdw sx="100000" sy="100000" kx="0" ky="0" algn="bl" rotWithShape="0" blurRad="177800" dist="38100" dir="5400000">
              <a:srgbClr val="000000">
                <a:alpha val="10000"/>
              </a:srgbClr>
            </a:outerShdw>
          </a:effectLst>
        </p:spPr>
      </p:sp>
      <p:sp>
        <p:nvSpPr>
          <p:cNvPr id="15" name="Shape 10"/>
          <p:cNvSpPr/>
          <p:nvPr/>
        </p:nvSpPr>
        <p:spPr>
          <a:xfrm>
            <a:off x="1005840" y="3200400"/>
            <a:ext cx="658368" cy="658368"/>
          </a:xfrm>
          <a:prstGeom prst="ellipse">
            <a:avLst/>
          </a:prstGeom>
          <a:solidFill>
            <a:srgbClr val="D31145"/>
          </a:solidFill>
          <a:ln/>
        </p:spPr>
      </p:sp>
      <p:pic>
        <p:nvPicPr>
          <p:cNvPr id="16" name="&quot;Suggest&quot;, never &quot;recommend&quot; icon" descr="&quot;Suggest&quot;, never &quot;recommend&quot;">    </p:cNvPr>
          <p:cNvPicPr>
            <a:picLocks noChangeAspect="1"/>
          </p:cNvPicPr>
          <p:nvPr/>
        </p:nvPicPr>
        <p:blipFill>
          <a:blip r:embed="rId3"/>
          <a:stretch>
            <a:fillRect/>
          </a:stretch>
        </p:blipFill>
        <p:spPr>
          <a:xfrm>
            <a:off x="1179576" y="3374136"/>
            <a:ext cx="310896" cy="310896"/>
          </a:xfrm>
          <a:prstGeom prst="rect">
            <a:avLst/>
          </a:prstGeom>
        </p:spPr>
      </p:pic>
      <p:sp>
        <p:nvSpPr>
          <p:cNvPr id="17" name="&amp;quot;Suggest&amp;quot;, never &amp;quot;recommend&amp;quot;"/>
          <p:cNvSpPr txBox="1"/>
          <p:nvPr/>
        </p:nvSpPr>
        <p:spPr>
          <a:xfrm>
            <a:off x="1920240" y="3136392"/>
            <a:ext cx="3886200" cy="36576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"Suggest", never "recommend"</a:t>
            </a:r>
            <a:endParaRPr lang="en-US" sz="1700" dirty="0"/>
          </a:p>
        </p:txBody>
      </p:sp>
      <p:sp>
        <p:nvSpPr>
          <p:cNvPr id="18" name="&amp;quot;Suggest&amp;quot;, never &amp;quot;recommend&amp;quot; detail"/>
          <p:cNvSpPr txBox="1"/>
          <p:nvPr/>
        </p:nvSpPr>
        <p:spPr>
          <a:xfrm>
            <a:off x="1920240" y="3520440"/>
            <a:ext cx="3886200" cy="5029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MAS wording. Relevance in words, not percentages.</a:t>
            </a:r>
            <a:endParaRPr lang="en-US" sz="1400" dirty="0"/>
          </a:p>
        </p:txBody>
      </p:sp>
      <p:sp>
        <p:nvSpPr>
          <p:cNvPr id="19" name="Only a person starts the analysis card"/>
          <p:cNvSpPr/>
          <p:nvPr/>
        </p:nvSpPr>
        <p:spPr>
          <a:xfrm>
            <a:off x="6199632" y="2953512"/>
            <a:ext cx="5257800" cy="1143000"/>
          </a:xfrm>
          <a:prstGeom prst="roundRect">
            <a:avLst>
              <a:gd name="adj" fmla="val 8000"/>
            </a:avLst>
          </a:prstGeom>
          <a:solidFill>
            <a:schemeClr val="bg2"/>
          </a:solidFill>
          <a:ln/>
          <a:effectLst>
            <a:outerShdw sx="100000" sy="100000" kx="0" ky="0" algn="bl" rotWithShape="0" blurRad="177800" dist="38100" dir="5400000">
              <a:srgbClr val="000000">
                <a:alpha val="10000"/>
              </a:srgbClr>
            </a:outerShdw>
          </a:effectLst>
        </p:spPr>
      </p:sp>
      <p:sp>
        <p:nvSpPr>
          <p:cNvPr id="20" name="Shape 14"/>
          <p:cNvSpPr/>
          <p:nvPr/>
        </p:nvSpPr>
        <p:spPr>
          <a:xfrm>
            <a:off x="6473952" y="3200400"/>
            <a:ext cx="658368" cy="658368"/>
          </a:xfrm>
          <a:prstGeom prst="ellipse">
            <a:avLst/>
          </a:prstGeom>
          <a:solidFill>
            <a:srgbClr val="D31145"/>
          </a:solidFill>
          <a:ln/>
        </p:spPr>
      </p:sp>
      <p:pic>
        <p:nvPicPr>
          <p:cNvPr id="21" name="Only a person starts the analysis icon" descr="Only a person starts the analysis">    </p:cNvPr>
          <p:cNvPicPr>
            <a:picLocks noChangeAspect="1"/>
          </p:cNvPicPr>
          <p:nvPr/>
        </p:nvPicPr>
        <p:blipFill>
          <a:blip r:embed="rId4"/>
          <a:stretch>
            <a:fillRect/>
          </a:stretch>
        </p:blipFill>
        <p:spPr>
          <a:xfrm>
            <a:off x="6647688" y="3374136"/>
            <a:ext cx="310896" cy="310896"/>
          </a:xfrm>
          <a:prstGeom prst="rect">
            <a:avLst/>
          </a:prstGeom>
        </p:spPr>
      </p:pic>
      <p:sp>
        <p:nvSpPr>
          <p:cNvPr id="22" name="Only a person starts the analysis"/>
          <p:cNvSpPr txBox="1"/>
          <p:nvPr/>
        </p:nvSpPr>
        <p:spPr>
          <a:xfrm>
            <a:off x="7388352" y="3136392"/>
            <a:ext cx="3886200" cy="36576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Only a person starts the analysis</a:t>
            </a:r>
            <a:endParaRPr lang="en-US" sz="1700" dirty="0"/>
          </a:p>
        </p:txBody>
      </p:sp>
      <p:sp>
        <p:nvSpPr>
          <p:cNvPr id="23" name="Only a person starts the analysis detail"/>
          <p:cNvSpPr txBox="1"/>
          <p:nvPr/>
        </p:nvSpPr>
        <p:spPr>
          <a:xfrm>
            <a:off x="7388352" y="3520440"/>
            <a:ext cx="3886200" cy="5029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The button ignores scripted clicks.</a:t>
            </a:r>
            <a:endParaRPr lang="en-US" sz="1400" dirty="0"/>
          </a:p>
        </p:txBody>
      </p:sp>
      <p:sp>
        <p:nvSpPr>
          <p:cNvPr id="24" name="Every fact is confirmed on screen card"/>
          <p:cNvSpPr/>
          <p:nvPr/>
        </p:nvSpPr>
        <p:spPr>
          <a:xfrm>
            <a:off x="731520" y="4261104"/>
            <a:ext cx="5257800" cy="1143000"/>
          </a:xfrm>
          <a:prstGeom prst="roundRect">
            <a:avLst>
              <a:gd name="adj" fmla="val 8000"/>
            </a:avLst>
          </a:prstGeom>
          <a:solidFill>
            <a:schemeClr val="bg2"/>
          </a:solidFill>
          <a:ln/>
          <a:effectLst>
            <a:outerShdw sx="100000" sy="100000" kx="0" ky="0" algn="bl" rotWithShape="0" blurRad="177800" dist="38100" dir="5400000">
              <a:srgbClr val="000000">
                <a:alpha val="10000"/>
              </a:srgbClr>
            </a:outerShdw>
          </a:effectLst>
        </p:spPr>
      </p:sp>
      <p:sp>
        <p:nvSpPr>
          <p:cNvPr id="25" name="Shape 18"/>
          <p:cNvSpPr/>
          <p:nvPr/>
        </p:nvSpPr>
        <p:spPr>
          <a:xfrm>
            <a:off x="1005840" y="4507992"/>
            <a:ext cx="658368" cy="658368"/>
          </a:xfrm>
          <a:prstGeom prst="ellipse">
            <a:avLst/>
          </a:prstGeom>
          <a:solidFill>
            <a:srgbClr val="D31145"/>
          </a:solidFill>
          <a:ln/>
        </p:spPr>
      </p:sp>
      <p:pic>
        <p:nvPicPr>
          <p:cNvPr id="26" name="Every fact is confirmed on screen icon" descr="Every fact is confirmed on screen">    </p:cNvPr>
          <p:cNvPicPr>
            <a:picLocks noChangeAspect="1"/>
          </p:cNvPicPr>
          <p:nvPr/>
        </p:nvPicPr>
        <p:blipFill>
          <a:blip r:embed="rId5"/>
          <a:stretch>
            <a:fillRect/>
          </a:stretch>
        </p:blipFill>
        <p:spPr>
          <a:xfrm>
            <a:off x="1179576" y="4681728"/>
            <a:ext cx="310896" cy="310896"/>
          </a:xfrm>
          <a:prstGeom prst="rect">
            <a:avLst/>
          </a:prstGeom>
        </p:spPr>
      </p:pic>
      <p:sp>
        <p:nvSpPr>
          <p:cNvPr id="27" name="Every fact is confirmed on screen"/>
          <p:cNvSpPr txBox="1"/>
          <p:nvPr/>
        </p:nvSpPr>
        <p:spPr>
          <a:xfrm>
            <a:off x="1920240" y="4443984"/>
            <a:ext cx="3886200" cy="36576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Every fact is confirmed on screen</a:t>
            </a:r>
            <a:endParaRPr lang="en-US" sz="1700" dirty="0"/>
          </a:p>
        </p:txBody>
      </p:sp>
      <p:sp>
        <p:nvSpPr>
          <p:cNvPr id="28" name="Every fact is confirmed on screen detail"/>
          <p:cNvSpPr txBox="1"/>
          <p:nvPr/>
        </p:nvSpPr>
        <p:spPr>
          <a:xfrm>
            <a:off x="1920240" y="4828032"/>
            <a:ext cx="3886200" cy="5029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Names and numbers are checked before use.</a:t>
            </a:r>
            <a:endParaRPr lang="en-US" sz="1400" dirty="0"/>
          </a:p>
        </p:txBody>
      </p:sp>
      <p:sp>
        <p:nvSpPr>
          <p:cNvPr id="29" name="Nothing is sent automatically card"/>
          <p:cNvSpPr/>
          <p:nvPr/>
        </p:nvSpPr>
        <p:spPr>
          <a:xfrm>
            <a:off x="6199632" y="4261104"/>
            <a:ext cx="5257800" cy="1143000"/>
          </a:xfrm>
          <a:prstGeom prst="roundRect">
            <a:avLst>
              <a:gd name="adj" fmla="val 8000"/>
            </a:avLst>
          </a:prstGeom>
          <a:solidFill>
            <a:schemeClr val="bg2"/>
          </a:solidFill>
          <a:ln/>
          <a:effectLst>
            <a:outerShdw sx="100000" sy="100000" kx="0" ky="0" algn="bl" rotWithShape="0" blurRad="177800" dist="38100" dir="5400000">
              <a:srgbClr val="000000">
                <a:alpha val="10000"/>
              </a:srgbClr>
            </a:outerShdw>
          </a:effectLst>
        </p:spPr>
      </p:sp>
      <p:sp>
        <p:nvSpPr>
          <p:cNvPr id="30" name="Shape 22"/>
          <p:cNvSpPr/>
          <p:nvPr/>
        </p:nvSpPr>
        <p:spPr>
          <a:xfrm>
            <a:off x="6473952" y="4507992"/>
            <a:ext cx="658368" cy="658368"/>
          </a:xfrm>
          <a:prstGeom prst="ellipse">
            <a:avLst/>
          </a:prstGeom>
          <a:solidFill>
            <a:srgbClr val="D31145"/>
          </a:solidFill>
          <a:ln/>
        </p:spPr>
      </p:sp>
      <p:pic>
        <p:nvPicPr>
          <p:cNvPr id="31" name="Nothing is sent automatically icon" descr="Nothing is sent automatically">    </p:cNvPr>
          <p:cNvPicPr>
            <a:picLocks noChangeAspect="1"/>
          </p:cNvPicPr>
          <p:nvPr/>
        </p:nvPicPr>
        <p:blipFill>
          <a:blip r:embed="rId6"/>
          <a:stretch>
            <a:fillRect/>
          </a:stretch>
        </p:blipFill>
        <p:spPr>
          <a:xfrm>
            <a:off x="6647688" y="4681728"/>
            <a:ext cx="310896" cy="310896"/>
          </a:xfrm>
          <a:prstGeom prst="rect">
            <a:avLst/>
          </a:prstGeom>
        </p:spPr>
      </p:pic>
      <p:sp>
        <p:nvSpPr>
          <p:cNvPr id="32" name="Nothing is sent automatically"/>
          <p:cNvSpPr txBox="1"/>
          <p:nvPr/>
        </p:nvSpPr>
        <p:spPr>
          <a:xfrm>
            <a:off x="7388352" y="4443984"/>
            <a:ext cx="3886200" cy="36576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Nothing is sent automatically</a:t>
            </a:r>
            <a:endParaRPr lang="en-US" sz="1700" dirty="0"/>
          </a:p>
        </p:txBody>
      </p:sp>
      <p:sp>
        <p:nvSpPr>
          <p:cNvPr id="33" name="Nothing is sent automatically detail"/>
          <p:cNvSpPr txBox="1"/>
          <p:nvPr/>
        </p:nvSpPr>
        <p:spPr>
          <a:xfrm>
            <a:off x="7388352" y="4828032"/>
            <a:ext cx="3886200" cy="5029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Drafts only. ID and card numbers masked before storage.</a:t>
            </a:r>
            <a:endParaRPr lang="en-US" sz="1400" dirty="0"/>
          </a:p>
        </p:txBody>
      </p:sp>
      <p:sp>
        <p:nvSpPr>
          <p:cNvPr id="34" name="Honesty note"/>
          <p:cNvSpPr txBox="1"/>
          <p:nvPr/>
        </p:nvSpPr>
        <p:spPr>
          <a:xfrm>
            <a:off x="731520" y="5669280"/>
            <a:ext cx="10728655" cy="320040"/>
          </a:xfrm>
          <a:prstGeom prst="rect">
            <a:avLst/>
          </a:prstGeom>
          <a:noFill/>
          <a:ln/>
        </p:spPr>
        <p:txBody>
          <a:bodyPr wrap="square" lIns="0" tIns="0" rIns="0" bIns="0" rtlCol="0" anchor="ctr"/>
          <a:lstStyle/>
          <a:p>
            <a:pPr indent="0" marL="0">
              <a:buNone/>
            </a:pPr>
            <a:r>
              <a:rPr lang="en-US" sz="1400" i="1" dirty="0">
                <a:solidFill>
                  <a:schemeClr val="tx2"/>
                </a:solidFill>
                <a:latin typeface="Arial" pitchFamily="34" charset="0"/>
                <a:ea typeface="Arial" pitchFamily="34" charset="-122"/>
                <a:cs typeface="Arial" pitchFamily="34" charset="-120"/>
              </a:rPr>
              <a:t>Controls work in the prototype and are pilot-grade. Compliance, Security and Privacy review is part of the pilot.</a:t>
            </a:r>
            <a:endParaRPr lang="en-US" sz="1400" dirty="0"/>
          </a:p>
        </p:txBody>
      </p:sp>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E73"/>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1" type="title" hasCustomPrompt="1"/>
          </p:nvPr>
        </p:nvSpPr>
        <p:spPr>
          <a:xfrm>
            <a:off x="731520" y="502920"/>
            <a:ext cx="10728655" cy="12344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Standard parts. No exotic bets</a:t>
            </a:r>
            <a:endParaRPr lang="en-US" sz="3600" dirty="0"/>
          </a:p>
        </p:txBody>
      </p:sp>
      <p:sp>
        <p:nvSpPr>
          <p:cNvPr id="4" name="Advisor's browser box"/>
          <p:cNvSpPr/>
          <p:nvPr/>
        </p:nvSpPr>
        <p:spPr>
          <a:xfrm>
            <a:off x="731520" y="2286000"/>
            <a:ext cx="2651760" cy="1737360"/>
          </a:xfrm>
          <a:prstGeom prst="roundRect">
            <a:avLst>
              <a:gd name="adj" fmla="val 5263"/>
            </a:avLst>
          </a:prstGeom>
          <a:solidFill>
            <a:schemeClr val="bg2"/>
          </a:solidFill>
          <a:ln/>
          <a:effectLst>
            <a:outerShdw sx="100000" sy="100000" kx="0" ky="0" algn="bl" rotWithShape="0" blurRad="177800" dist="38100" dir="5400000">
              <a:srgbClr val="000000">
                <a:alpha val="10000"/>
              </a:srgbClr>
            </a:outerShdw>
          </a:effectLst>
        </p:spPr>
      </p:sp>
      <p:sp>
        <p:nvSpPr>
          <p:cNvPr id="5" name="Advisor&amp;apos;s browser"/>
          <p:cNvSpPr txBox="1"/>
          <p:nvPr/>
        </p:nvSpPr>
        <p:spPr>
          <a:xfrm>
            <a:off x="960120" y="2468880"/>
            <a:ext cx="2194560"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Advisor's browser</a:t>
            </a:r>
            <a:endParaRPr lang="en-US" sz="1800" dirty="0"/>
          </a:p>
        </p:txBody>
      </p:sp>
      <p:sp>
        <p:nvSpPr>
          <p:cNvPr id="6" name="Advisor&amp;apos;s browser detail"/>
          <p:cNvSpPr txBox="1"/>
          <p:nvPr/>
        </p:nvSpPr>
        <p:spPr>
          <a:xfrm>
            <a:off x="960120" y="2880360"/>
            <a:ext cx="2194560" cy="10058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React 18 and TypeScript. Voice in, words out.</a:t>
            </a:r>
            <a:endParaRPr lang="en-US" sz="1400" dirty="0"/>
          </a:p>
        </p:txBody>
      </p:sp>
      <p:sp>
        <p:nvSpPr>
          <p:cNvPr id="7" name="Voice Insights API box"/>
          <p:cNvSpPr/>
          <p:nvPr/>
        </p:nvSpPr>
        <p:spPr>
          <a:xfrm>
            <a:off x="4434840" y="1920240"/>
            <a:ext cx="3383280" cy="2468880"/>
          </a:xfrm>
          <a:prstGeom prst="roundRect">
            <a:avLst>
              <a:gd name="adj" fmla="val 3704"/>
            </a:avLst>
          </a:prstGeom>
          <a:solidFill>
            <a:schemeClr val="accent1"/>
          </a:solidFill>
          <a:ln/>
          <a:effectLst>
            <a:outerShdw sx="100000" sy="100000" kx="0" ky="0" algn="bl" rotWithShape="0" blurRad="177800" dist="38100" dir="5400000">
              <a:srgbClr val="000000">
                <a:alpha val="10000"/>
              </a:srgbClr>
            </a:outerShdw>
          </a:effectLst>
        </p:spPr>
      </p:sp>
      <p:sp>
        <p:nvSpPr>
          <p:cNvPr id="8" name="Voice Insights API"/>
          <p:cNvSpPr txBox="1"/>
          <p:nvPr/>
        </p:nvSpPr>
        <p:spPr>
          <a:xfrm>
            <a:off x="4663440" y="2103120"/>
            <a:ext cx="2926080" cy="36576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Voice Insights API</a:t>
            </a:r>
            <a:endParaRPr lang="en-US" sz="1800" dirty="0"/>
          </a:p>
        </p:txBody>
      </p:sp>
      <p:sp>
        <p:nvSpPr>
          <p:cNvPr id="9" name="Voice Insights API detail"/>
          <p:cNvSpPr txBox="1"/>
          <p:nvPr/>
        </p:nvSpPr>
        <p:spPr>
          <a:xfrm>
            <a:off x="4663440" y="2514600"/>
            <a:ext cx="2926080" cy="173736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Java 21, Spring Boot, Spring AI.</a:t>
            </a:r>
            <a:endParaRPr lang="en-US" sz="1400" dirty="0"/>
          </a:p>
          <a:p>
            <a:pPr indent="0" marL="0">
              <a:buNone/>
            </a:pPr>
            <a:r>
              <a:rPr lang="en-US" sz="1400" dirty="0">
                <a:solidFill>
                  <a:srgbClr val="FFFFFF"/>
                </a:solidFill>
                <a:latin typeface="Arial" pitchFamily="34" charset="0"/>
                <a:ea typeface="Arial" pitchFamily="34" charset="-122"/>
                <a:cs typeface="Arial" pitchFamily="34" charset="-120"/>
              </a:rPr>
              <a:t>11 specialist agents (LangGraph4j), three in parallel. Every step stored for audit.</a:t>
            </a:r>
            <a:endParaRPr lang="en-US" sz="1400" dirty="0"/>
          </a:p>
        </p:txBody>
      </p:sp>
      <p:sp>
        <p:nvSpPr>
          <p:cNvPr id="10" name="Azure OpenAI box"/>
          <p:cNvSpPr/>
          <p:nvPr/>
        </p:nvSpPr>
        <p:spPr>
          <a:xfrm>
            <a:off x="8595360" y="1691640"/>
            <a:ext cx="2862072" cy="1051560"/>
          </a:xfrm>
          <a:prstGeom prst="roundRect">
            <a:avLst>
              <a:gd name="adj" fmla="val 8696"/>
            </a:avLst>
          </a:prstGeom>
          <a:solidFill>
            <a:schemeClr val="bg2"/>
          </a:solidFill>
          <a:ln/>
          <a:effectLst>
            <a:outerShdw sx="100000" sy="100000" kx="0" ky="0" algn="bl" rotWithShape="0" blurRad="177800" dist="38100" dir="5400000">
              <a:srgbClr val="000000">
                <a:alpha val="10000"/>
              </a:srgbClr>
            </a:outerShdw>
          </a:effectLst>
        </p:spPr>
      </p:sp>
      <p:sp>
        <p:nvSpPr>
          <p:cNvPr id="11" name="Azure OpenAI"/>
          <p:cNvSpPr txBox="1"/>
          <p:nvPr/>
        </p:nvSpPr>
        <p:spPr>
          <a:xfrm>
            <a:off x="8823960" y="1874520"/>
            <a:ext cx="2404872"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Azure OpenAI</a:t>
            </a:r>
            <a:endParaRPr lang="en-US" sz="1800" dirty="0"/>
          </a:p>
        </p:txBody>
      </p:sp>
      <p:sp>
        <p:nvSpPr>
          <p:cNvPr id="12" name="Azure OpenAI detail"/>
          <p:cNvSpPr txBox="1"/>
          <p:nvPr/>
        </p:nvSpPr>
        <p:spPr>
          <a:xfrm>
            <a:off x="8823960" y="2286000"/>
            <a:ext cx="2404872" cy="3200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Speech, reasoning, voice</a:t>
            </a:r>
            <a:endParaRPr lang="en-US" sz="1400" dirty="0"/>
          </a:p>
        </p:txBody>
      </p:sp>
      <p:sp>
        <p:nvSpPr>
          <p:cNvPr id="13" name="PostgreSQL box"/>
          <p:cNvSpPr/>
          <p:nvPr/>
        </p:nvSpPr>
        <p:spPr>
          <a:xfrm>
            <a:off x="8595360" y="2880360"/>
            <a:ext cx="2862072" cy="1051560"/>
          </a:xfrm>
          <a:prstGeom prst="roundRect">
            <a:avLst>
              <a:gd name="adj" fmla="val 8696"/>
            </a:avLst>
          </a:prstGeom>
          <a:solidFill>
            <a:schemeClr val="bg2"/>
          </a:solidFill>
          <a:ln/>
          <a:effectLst>
            <a:outerShdw sx="100000" sy="100000" kx="0" ky="0" algn="bl" rotWithShape="0" blurRad="177800" dist="38100" dir="5400000">
              <a:srgbClr val="000000">
                <a:alpha val="10000"/>
              </a:srgbClr>
            </a:outerShdw>
          </a:effectLst>
        </p:spPr>
      </p:sp>
      <p:sp>
        <p:nvSpPr>
          <p:cNvPr id="14" name="PostgreSQL"/>
          <p:cNvSpPr txBox="1"/>
          <p:nvPr/>
        </p:nvSpPr>
        <p:spPr>
          <a:xfrm>
            <a:off x="8823960" y="3063240"/>
            <a:ext cx="2404872"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PostgreSQL</a:t>
            </a:r>
            <a:endParaRPr lang="en-US" sz="1800" dirty="0"/>
          </a:p>
        </p:txBody>
      </p:sp>
      <p:sp>
        <p:nvSpPr>
          <p:cNvPr id="15" name="PostgreSQL detail"/>
          <p:cNvSpPr txBox="1"/>
          <p:nvPr/>
        </p:nvSpPr>
        <p:spPr>
          <a:xfrm>
            <a:off x="8823960" y="3474720"/>
            <a:ext cx="2404872" cy="3200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pgvector search, profiles, documents</a:t>
            </a:r>
            <a:endParaRPr lang="en-US" sz="1400" dirty="0"/>
          </a:p>
        </p:txBody>
      </p:sp>
      <p:sp>
        <p:nvSpPr>
          <p:cNvPr id="16" name="Redis box"/>
          <p:cNvSpPr/>
          <p:nvPr/>
        </p:nvSpPr>
        <p:spPr>
          <a:xfrm>
            <a:off x="8595360" y="4069080"/>
            <a:ext cx="2862072" cy="1051560"/>
          </a:xfrm>
          <a:prstGeom prst="roundRect">
            <a:avLst>
              <a:gd name="adj" fmla="val 8696"/>
            </a:avLst>
          </a:prstGeom>
          <a:solidFill>
            <a:schemeClr val="bg2"/>
          </a:solidFill>
          <a:ln/>
          <a:effectLst>
            <a:outerShdw sx="100000" sy="100000" kx="0" ky="0" algn="bl" rotWithShape="0" blurRad="177800" dist="38100" dir="5400000">
              <a:srgbClr val="000000">
                <a:alpha val="10000"/>
              </a:srgbClr>
            </a:outerShdw>
          </a:effectLst>
        </p:spPr>
      </p:sp>
      <p:sp>
        <p:nvSpPr>
          <p:cNvPr id="17" name="Redis"/>
          <p:cNvSpPr txBox="1"/>
          <p:nvPr/>
        </p:nvSpPr>
        <p:spPr>
          <a:xfrm>
            <a:off x="8823960" y="4251960"/>
            <a:ext cx="2404872"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Redis</a:t>
            </a:r>
            <a:endParaRPr lang="en-US" sz="1800" dirty="0"/>
          </a:p>
        </p:txBody>
      </p:sp>
      <p:sp>
        <p:nvSpPr>
          <p:cNvPr id="18" name="Redis detail"/>
          <p:cNvSpPr txBox="1"/>
          <p:nvPr/>
        </p:nvSpPr>
        <p:spPr>
          <a:xfrm>
            <a:off x="8823960" y="4663440"/>
            <a:ext cx="2404872" cy="3200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Sessions</a:t>
            </a:r>
            <a:endParaRPr lang="en-US" sz="1400" dirty="0"/>
          </a:p>
        </p:txBody>
      </p:sp>
      <p:sp>
        <p:nvSpPr>
          <p:cNvPr id="19" name="Shape 16"/>
          <p:cNvSpPr/>
          <p:nvPr/>
        </p:nvSpPr>
        <p:spPr>
          <a:xfrm>
            <a:off x="3383280" y="3154680"/>
            <a:ext cx="1051560" cy="0"/>
          </a:xfrm>
          <a:prstGeom prst="line">
            <a:avLst/>
          </a:prstGeom>
          <a:noFill/>
          <a:ln w="22225">
            <a:solidFill>
              <a:schemeClr val="tx2"/>
            </a:solidFill>
            <a:prstDash val="solid"/>
            <a:tailEnd type="triangle"/>
          </a:ln>
        </p:spPr>
      </p:sp>
      <p:sp>
        <p:nvSpPr>
          <p:cNvPr id="20" name="Shape 17"/>
          <p:cNvSpPr/>
          <p:nvPr/>
        </p:nvSpPr>
        <p:spPr>
          <a:xfrm>
            <a:off x="7818120" y="3154680"/>
            <a:ext cx="777240" cy="0"/>
          </a:xfrm>
          <a:prstGeom prst="line">
            <a:avLst/>
          </a:prstGeom>
          <a:noFill/>
          <a:ln w="22225">
            <a:solidFill>
              <a:schemeClr val="tx2"/>
            </a:solidFill>
            <a:prstDash val="solid"/>
            <a:tailEnd type="triangle"/>
          </a:ln>
        </p:spPr>
      </p:sp>
      <p:sp>
        <p:nvSpPr>
          <p:cNvPr id="21" name="Delivery note"/>
          <p:cNvSpPr txBox="1"/>
          <p:nvPr/>
        </p:nvSpPr>
        <p:spPr>
          <a:xfrm>
            <a:off x="731520" y="5440680"/>
            <a:ext cx="8716975" cy="457200"/>
          </a:xfrm>
          <a:prstGeom prst="rect">
            <a:avLst/>
          </a:prstGeom>
          <a:noFill/>
          <a:ln/>
        </p:spPr>
        <p:txBody>
          <a:bodyPr wrap="square" lIns="0" tIns="0" rIns="0" bIns="0" rtlCol="0" anchor="ctr"/>
          <a:lstStyle/>
          <a:p>
            <a:pPr indent="0" marL="0">
              <a:buNone/>
            </a:pPr>
            <a:r>
              <a:rPr lang="en-US" sz="1600" dirty="0">
                <a:solidFill>
                  <a:schemeClr val="tx2"/>
                </a:solidFill>
                <a:latin typeface="Arial" pitchFamily="34" charset="0"/>
                <a:ea typeface="Arial" pitchFamily="34" charset="-122"/>
                <a:cs typeface="Arial" pitchFamily="34" charset="-120"/>
              </a:rPr>
              <a:t>Containers on Azure Container Apps or AKS. Scales by adding capacity, not by redesign.</a:t>
            </a:r>
            <a:endParaRPr lang="en-US" sz="1600" dirty="0"/>
          </a:p>
        </p:txBody>
      </p:sp>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E73"/>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1" type="title" hasCustomPrompt="1"/>
          </p:nvPr>
        </p:nvSpPr>
        <p:spPr>
          <a:xfrm>
            <a:off x="731520" y="502920"/>
            <a:ext cx="10728655" cy="12344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How we will know it works</a:t>
            </a:r>
            <a:endParaRPr lang="en-US" sz="3600" dirty="0"/>
          </a:p>
        </p:txBody>
      </p:sp>
      <p:sp>
        <p:nvSpPr>
          <p:cNvPr id="4" name="less time from meeting to documented advice tile"/>
          <p:cNvSpPr/>
          <p:nvPr/>
        </p:nvSpPr>
        <p:spPr>
          <a:xfrm>
            <a:off x="731520" y="1691640"/>
            <a:ext cx="3429000" cy="1783080"/>
          </a:xfrm>
          <a:prstGeom prst="roundRect">
            <a:avLst>
              <a:gd name="adj" fmla="val 5128"/>
            </a:avLst>
          </a:prstGeom>
          <a:solidFill>
            <a:schemeClr val="bg2"/>
          </a:solidFill>
          <a:ln/>
          <a:effectLst>
            <a:outerShdw sx="100000" sy="100000" kx="0" ky="0" algn="bl" rotWithShape="0" blurRad="177800" dist="38100" dir="5400000">
              <a:srgbClr val="000000">
                <a:alpha val="10000"/>
              </a:srgbClr>
            </a:outerShdw>
          </a:effectLst>
        </p:spPr>
      </p:sp>
      <p:sp>
        <p:nvSpPr>
          <p:cNvPr id="5" name="Target ≥ 50%"/>
          <p:cNvSpPr txBox="1"/>
          <p:nvPr/>
        </p:nvSpPr>
        <p:spPr>
          <a:xfrm>
            <a:off x="1051560" y="1920240"/>
            <a:ext cx="2788920" cy="77724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 50%</a:t>
            </a:r>
            <a:endParaRPr lang="en-US" sz="4400" dirty="0"/>
          </a:p>
        </p:txBody>
      </p:sp>
      <p:sp>
        <p:nvSpPr>
          <p:cNvPr id="6" name="Target label ≥ 50%"/>
          <p:cNvSpPr txBox="1"/>
          <p:nvPr/>
        </p:nvSpPr>
        <p:spPr>
          <a:xfrm>
            <a:off x="1051560" y="2743200"/>
            <a:ext cx="2788920" cy="59436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less time from meeting to documented advice</a:t>
            </a:r>
            <a:endParaRPr lang="en-US" sz="1500" dirty="0"/>
          </a:p>
        </p:txBody>
      </p:sp>
      <p:sp>
        <p:nvSpPr>
          <p:cNvPr id="7" name="of follow-ups sent within 24 hours tile"/>
          <p:cNvSpPr/>
          <p:nvPr/>
        </p:nvSpPr>
        <p:spPr>
          <a:xfrm>
            <a:off x="4379976" y="1691640"/>
            <a:ext cx="3429000" cy="1783080"/>
          </a:xfrm>
          <a:prstGeom prst="roundRect">
            <a:avLst>
              <a:gd name="adj" fmla="val 5128"/>
            </a:avLst>
          </a:prstGeom>
          <a:solidFill>
            <a:schemeClr val="bg2"/>
          </a:solidFill>
          <a:ln/>
          <a:effectLst>
            <a:outerShdw sx="100000" sy="100000" kx="0" ky="0" algn="bl" rotWithShape="0" blurRad="177800" dist="38100" dir="5400000">
              <a:srgbClr val="000000">
                <a:alpha val="10000"/>
              </a:srgbClr>
            </a:outerShdw>
          </a:effectLst>
        </p:spPr>
      </p:sp>
      <p:sp>
        <p:nvSpPr>
          <p:cNvPr id="8" name="Target 90%"/>
          <p:cNvSpPr txBox="1"/>
          <p:nvPr/>
        </p:nvSpPr>
        <p:spPr>
          <a:xfrm>
            <a:off x="4700016" y="1920240"/>
            <a:ext cx="2788920" cy="77724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90%</a:t>
            </a:r>
            <a:endParaRPr lang="en-US" sz="4400" dirty="0"/>
          </a:p>
        </p:txBody>
      </p:sp>
      <p:sp>
        <p:nvSpPr>
          <p:cNvPr id="9" name="Target label 90%"/>
          <p:cNvSpPr txBox="1"/>
          <p:nvPr/>
        </p:nvSpPr>
        <p:spPr>
          <a:xfrm>
            <a:off x="4700016" y="2743200"/>
            <a:ext cx="2788920" cy="59436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of follow-ups sent within 24 hours</a:t>
            </a:r>
            <a:endParaRPr lang="en-US" sz="1500" dirty="0"/>
          </a:p>
        </p:txBody>
      </p:sp>
      <p:sp>
        <p:nvSpPr>
          <p:cNvPr id="10" name="fact-find completeness tile"/>
          <p:cNvSpPr/>
          <p:nvPr/>
        </p:nvSpPr>
        <p:spPr>
          <a:xfrm>
            <a:off x="8028432" y="1691640"/>
            <a:ext cx="3429000" cy="1783080"/>
          </a:xfrm>
          <a:prstGeom prst="roundRect">
            <a:avLst>
              <a:gd name="adj" fmla="val 5128"/>
            </a:avLst>
          </a:prstGeom>
          <a:solidFill>
            <a:schemeClr val="bg2"/>
          </a:solidFill>
          <a:ln/>
          <a:effectLst>
            <a:outerShdw sx="100000" sy="100000" kx="0" ky="0" algn="bl" rotWithShape="0" blurRad="177800" dist="38100" dir="5400000">
              <a:srgbClr val="000000">
                <a:alpha val="10000"/>
              </a:srgbClr>
            </a:outerShdw>
          </a:effectLst>
        </p:spPr>
      </p:sp>
      <p:sp>
        <p:nvSpPr>
          <p:cNvPr id="11" name="Target ≥ 80%"/>
          <p:cNvSpPr txBox="1"/>
          <p:nvPr/>
        </p:nvSpPr>
        <p:spPr>
          <a:xfrm>
            <a:off x="8348472" y="1920240"/>
            <a:ext cx="2788920" cy="77724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 80%</a:t>
            </a:r>
            <a:endParaRPr lang="en-US" sz="4400" dirty="0"/>
          </a:p>
        </p:txBody>
      </p:sp>
      <p:sp>
        <p:nvSpPr>
          <p:cNvPr id="12" name="Target label ≥ 80%"/>
          <p:cNvSpPr txBox="1"/>
          <p:nvPr/>
        </p:nvSpPr>
        <p:spPr>
          <a:xfrm>
            <a:off x="8348472" y="2743200"/>
            <a:ext cx="2788920" cy="59436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fact-find completeness</a:t>
            </a:r>
            <a:endParaRPr lang="en-US" sz="1500" dirty="0"/>
          </a:p>
        </p:txBody>
      </p:sp>
      <p:sp>
        <p:nvSpPr>
          <p:cNvPr id="13" name="of advice packs signed off by an advisor tile"/>
          <p:cNvSpPr/>
          <p:nvPr/>
        </p:nvSpPr>
        <p:spPr>
          <a:xfrm>
            <a:off x="731520" y="3675888"/>
            <a:ext cx="3429000" cy="1783080"/>
          </a:xfrm>
          <a:prstGeom prst="roundRect">
            <a:avLst>
              <a:gd name="adj" fmla="val 5128"/>
            </a:avLst>
          </a:prstGeom>
          <a:solidFill>
            <a:schemeClr val="bg2"/>
          </a:solidFill>
          <a:ln/>
          <a:effectLst>
            <a:outerShdw sx="100000" sy="100000" kx="0" ky="0" algn="bl" rotWithShape="0" blurRad="177800" dist="38100" dir="5400000">
              <a:srgbClr val="000000">
                <a:alpha val="10000"/>
              </a:srgbClr>
            </a:outerShdw>
          </a:effectLst>
        </p:spPr>
      </p:sp>
      <p:sp>
        <p:nvSpPr>
          <p:cNvPr id="14" name="Target 100%"/>
          <p:cNvSpPr txBox="1"/>
          <p:nvPr/>
        </p:nvSpPr>
        <p:spPr>
          <a:xfrm>
            <a:off x="1051560" y="3904488"/>
            <a:ext cx="2788920" cy="77724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100%</a:t>
            </a:r>
            <a:endParaRPr lang="en-US" sz="4400" dirty="0"/>
          </a:p>
        </p:txBody>
      </p:sp>
      <p:sp>
        <p:nvSpPr>
          <p:cNvPr id="15" name="Target label 100%"/>
          <p:cNvSpPr txBox="1"/>
          <p:nvPr/>
        </p:nvSpPr>
        <p:spPr>
          <a:xfrm>
            <a:off x="1051560" y="4727448"/>
            <a:ext cx="2788920" cy="59436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of advice packs signed off by an advisor</a:t>
            </a:r>
            <a:endParaRPr lang="en-US" sz="1500" dirty="0"/>
          </a:p>
        </p:txBody>
      </p:sp>
      <p:sp>
        <p:nvSpPr>
          <p:cNvPr id="16" name="advisor satisfaction tile"/>
          <p:cNvSpPr/>
          <p:nvPr/>
        </p:nvSpPr>
        <p:spPr>
          <a:xfrm>
            <a:off x="4379976" y="3675888"/>
            <a:ext cx="3429000" cy="1783080"/>
          </a:xfrm>
          <a:prstGeom prst="roundRect">
            <a:avLst>
              <a:gd name="adj" fmla="val 5128"/>
            </a:avLst>
          </a:prstGeom>
          <a:solidFill>
            <a:schemeClr val="bg2"/>
          </a:solidFill>
          <a:ln/>
          <a:effectLst>
            <a:outerShdw sx="100000" sy="100000" kx="0" ky="0" algn="bl" rotWithShape="0" blurRad="177800" dist="38100" dir="5400000">
              <a:srgbClr val="000000">
                <a:alpha val="10000"/>
              </a:srgbClr>
            </a:outerShdw>
          </a:effectLst>
        </p:spPr>
      </p:sp>
      <p:sp>
        <p:nvSpPr>
          <p:cNvPr id="17" name="Target ≥ 4 / 5"/>
          <p:cNvSpPr txBox="1"/>
          <p:nvPr/>
        </p:nvSpPr>
        <p:spPr>
          <a:xfrm>
            <a:off x="4700016" y="3904488"/>
            <a:ext cx="2788920" cy="77724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 4 / 5</a:t>
            </a:r>
            <a:endParaRPr lang="en-US" sz="4400" dirty="0"/>
          </a:p>
        </p:txBody>
      </p:sp>
      <p:sp>
        <p:nvSpPr>
          <p:cNvPr id="18" name="Target label ≥ 4 / 5"/>
          <p:cNvSpPr txBox="1"/>
          <p:nvPr/>
        </p:nvSpPr>
        <p:spPr>
          <a:xfrm>
            <a:off x="4700016" y="4727448"/>
            <a:ext cx="2788920" cy="59436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advisor satisfaction</a:t>
            </a:r>
            <a:endParaRPr lang="en-US" sz="1500" dirty="0"/>
          </a:p>
        </p:txBody>
      </p:sp>
      <p:sp>
        <p:nvSpPr>
          <p:cNvPr id="19" name="to run one conversation tile"/>
          <p:cNvSpPr/>
          <p:nvPr/>
        </p:nvSpPr>
        <p:spPr>
          <a:xfrm>
            <a:off x="8028432" y="3675888"/>
            <a:ext cx="3429000" cy="1783080"/>
          </a:xfrm>
          <a:prstGeom prst="roundRect">
            <a:avLst>
              <a:gd name="adj" fmla="val 5128"/>
            </a:avLst>
          </a:prstGeom>
          <a:solidFill>
            <a:schemeClr val="bg2"/>
          </a:solidFill>
          <a:ln/>
          <a:effectLst>
            <a:outerShdw sx="100000" sy="100000" kx="0" ky="0" algn="bl" rotWithShape="0" blurRad="177800" dist="38100" dir="5400000">
              <a:srgbClr val="000000">
                <a:alpha val="10000"/>
              </a:srgbClr>
            </a:outerShdw>
          </a:effectLst>
        </p:spPr>
      </p:sp>
      <p:sp>
        <p:nvSpPr>
          <p:cNvPr id="20" name="Target &amp;lt; SGD 1"/>
          <p:cNvSpPr txBox="1"/>
          <p:nvPr/>
        </p:nvSpPr>
        <p:spPr>
          <a:xfrm>
            <a:off x="8348472" y="3904488"/>
            <a:ext cx="2788920" cy="77724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&lt; SGD 1</a:t>
            </a:r>
            <a:endParaRPr lang="en-US" sz="4400" dirty="0"/>
          </a:p>
        </p:txBody>
      </p:sp>
      <p:sp>
        <p:nvSpPr>
          <p:cNvPr id="21" name="Target label &amp;lt; SGD 1"/>
          <p:cNvSpPr txBox="1"/>
          <p:nvPr/>
        </p:nvSpPr>
        <p:spPr>
          <a:xfrm>
            <a:off x="8348472" y="4727448"/>
            <a:ext cx="2788920" cy="59436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to run one conversation</a:t>
            </a:r>
            <a:endParaRPr lang="en-US" sz="1500" dirty="0"/>
          </a:p>
        </p:txBody>
      </p:sp>
      <p:sp>
        <p:nvSpPr>
          <p:cNvPr id="22" name="Targets note"/>
          <p:cNvSpPr txBox="1"/>
          <p:nvPr/>
        </p:nvSpPr>
        <p:spPr>
          <a:xfrm>
            <a:off x="731520" y="5623560"/>
            <a:ext cx="8716975" cy="457200"/>
          </a:xfrm>
          <a:prstGeom prst="rect">
            <a:avLst/>
          </a:prstGeom>
          <a:noFill/>
          <a:ln/>
        </p:spPr>
        <p:txBody>
          <a:bodyPr wrap="square" lIns="0" tIns="0" rIns="0" bIns="0" rtlCol="0" anchor="ctr"/>
          <a:lstStyle/>
          <a:p>
            <a:pPr indent="0" marL="0">
              <a:buNone/>
            </a:pPr>
            <a:r>
              <a:rPr lang="en-US" sz="1400" i="1" dirty="0">
                <a:solidFill>
                  <a:schemeClr val="tx2"/>
                </a:solidFill>
                <a:latin typeface="Arial" pitchFamily="34" charset="0"/>
                <a:ea typeface="Arial" pitchFamily="34" charset="-122"/>
                <a:cs typeface="Arial" pitchFamily="34" charset="-120"/>
              </a:rPr>
              <a:t>Proposed pilot targets, to be agreed. The baseline is measured first, with the advisors who take part.</a:t>
            </a:r>
            <a:endParaRPr lang="en-US" sz="1400" dirty="0"/>
          </a:p>
        </p:txBody>
      </p:sp>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E73"/>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1" type="title" hasCustomPrompt="1"/>
          </p:nvPr>
        </p:nvSpPr>
        <p:spPr>
          <a:xfrm>
            <a:off x="731520" y="502920"/>
            <a:ext cx="10728655" cy="12344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The numbers, honestly</a:t>
            </a:r>
            <a:endParaRPr lang="en-US" sz="3600" dirty="0"/>
          </a:p>
        </p:txBody>
      </p:sp>
      <p:sp>
        <p:nvSpPr>
          <p:cNvPr id="4" name="Value panel"/>
          <p:cNvSpPr/>
          <p:nvPr/>
        </p:nvSpPr>
        <p:spPr>
          <a:xfrm>
            <a:off x="731520" y="1691640"/>
            <a:ext cx="5486400" cy="3977640"/>
          </a:xfrm>
          <a:prstGeom prst="roundRect">
            <a:avLst>
              <a:gd name="adj" fmla="val 2299"/>
            </a:avLst>
          </a:prstGeom>
          <a:solidFill>
            <a:schemeClr val="bg2"/>
          </a:solidFill>
          <a:ln/>
          <a:effectLst>
            <a:outerShdw sx="100000" sy="100000" kx="0" ky="0" algn="bl" rotWithShape="0" blurRad="177800" dist="38100" dir="5400000">
              <a:srgbClr val="000000">
                <a:alpha val="10000"/>
              </a:srgbClr>
            </a:outerShdw>
          </a:effectLst>
        </p:spPr>
      </p:sp>
      <p:sp>
        <p:nvSpPr>
          <p:cNvPr id="5" name="Value label"/>
          <p:cNvSpPr txBox="1"/>
          <p:nvPr/>
        </p:nvSpPr>
        <p:spPr>
          <a:xfrm>
            <a:off x="1097280" y="1920240"/>
            <a:ext cx="4754880" cy="365760"/>
          </a:xfrm>
          <a:prstGeom prst="rect">
            <a:avLst/>
          </a:prstGeom>
          <a:noFill/>
          <a:ln/>
        </p:spPr>
        <p:txBody>
          <a:bodyPr wrap="square" lIns="0" tIns="0" rIns="0" bIns="0" rtlCol="0" anchor="ctr"/>
          <a:lstStyle/>
          <a:p>
            <a:pPr indent="0" marL="0">
              <a:buNone/>
            </a:pPr>
            <a:r>
              <a:rPr lang="en-US" sz="1400" b="1" dirty="0">
                <a:solidFill>
                  <a:schemeClr val="tx2"/>
                </a:solidFill>
                <a:latin typeface="Arial" pitchFamily="34" charset="0"/>
                <a:ea typeface="Arial" pitchFamily="34" charset="-122"/>
                <a:cs typeface="Arial" pitchFamily="34" charset="-120"/>
              </a:rPr>
              <a:t>If it works at scale (illustration)</a:t>
            </a:r>
            <a:endParaRPr lang="en-US" sz="1400" dirty="0"/>
          </a:p>
        </p:txBody>
      </p:sp>
      <p:sp>
        <p:nvSpPr>
          <p:cNvPr id="6" name="Value inputs"/>
          <p:cNvSpPr txBox="1"/>
          <p:nvPr/>
        </p:nvSpPr>
        <p:spPr>
          <a:xfrm>
            <a:off x="1097280" y="2377440"/>
            <a:ext cx="4754880" cy="731520"/>
          </a:xfrm>
          <a:prstGeom prst="rect">
            <a:avLst/>
          </a:prstGeom>
          <a:noFill/>
          <a:ln/>
        </p:spPr>
        <p:txBody>
          <a:bodyPr wrap="square" lIns="0" tIns="0" rIns="0" bIns="0" rtlCol="0" anchor="t"/>
          <a:lstStyle/>
          <a:p>
            <a:pPr indent="0" marL="0">
              <a:buNone/>
            </a:pPr>
            <a:r>
              <a:rPr lang="en-US" sz="1800" dirty="0">
                <a:solidFill>
                  <a:schemeClr val="tx1"/>
                </a:solidFill>
                <a:latin typeface="Arial" pitchFamily="34" charset="0"/>
                <a:ea typeface="Arial" pitchFamily="34" charset="-122"/>
                <a:cs typeface="Arial" pitchFamily="34" charset="-120"/>
              </a:rPr>
              <a:t>200 advisors × 8 cases a month × 45 minutes</a:t>
            </a:r>
            <a:endParaRPr lang="en-US" sz="1800" dirty="0"/>
          </a:p>
        </p:txBody>
      </p:sp>
      <p:sp>
        <p:nvSpPr>
          <p:cNvPr id="7" name="Value number"/>
          <p:cNvSpPr txBox="1"/>
          <p:nvPr/>
        </p:nvSpPr>
        <p:spPr>
          <a:xfrm>
            <a:off x="1097280" y="3154680"/>
            <a:ext cx="4754880" cy="1005840"/>
          </a:xfrm>
          <a:prstGeom prst="rect">
            <a:avLst/>
          </a:prstGeom>
          <a:noFill/>
          <a:ln/>
        </p:spPr>
        <p:txBody>
          <a:bodyPr wrap="square" lIns="0" tIns="0" rIns="0" bIns="0" rtlCol="0" anchor="ctr"/>
          <a:lstStyle/>
          <a:p>
            <a:pPr indent="0" marL="0">
              <a:buNone/>
            </a:pPr>
            <a:r>
              <a:rPr lang="en-US" sz="6600" b="1" dirty="0">
                <a:solidFill>
                  <a:schemeClr val="accent1"/>
                </a:solidFill>
                <a:latin typeface="Arial" pitchFamily="34" charset="0"/>
                <a:ea typeface="Arial" pitchFamily="34" charset="-122"/>
                <a:cs typeface="Arial" pitchFamily="34" charset="-120"/>
              </a:rPr>
              <a:t>1,200</a:t>
            </a:r>
            <a:endParaRPr lang="en-US" sz="6600" dirty="0"/>
          </a:p>
        </p:txBody>
      </p:sp>
      <p:sp>
        <p:nvSpPr>
          <p:cNvPr id="8" name="Value caption"/>
          <p:cNvSpPr txBox="1"/>
          <p:nvPr/>
        </p:nvSpPr>
        <p:spPr>
          <a:xfrm>
            <a:off x="1097280" y="4206240"/>
            <a:ext cx="4754880" cy="731520"/>
          </a:xfrm>
          <a:prstGeom prst="rect">
            <a:avLst/>
          </a:prstGeom>
          <a:noFill/>
          <a:ln/>
        </p:spPr>
        <p:txBody>
          <a:bodyPr wrap="square" lIns="0" tIns="0" rIns="0" bIns="0" rtlCol="0" anchor="t"/>
          <a:lstStyle/>
          <a:p>
            <a:pPr indent="0" marL="0">
              <a:buNone/>
            </a:pPr>
            <a:r>
              <a:rPr lang="en-US" sz="1600" dirty="0">
                <a:solidFill>
                  <a:schemeClr val="tx1"/>
                </a:solidFill>
                <a:latin typeface="Arial" pitchFamily="34" charset="0"/>
                <a:ea typeface="Arial" pitchFamily="34" charset="-122"/>
                <a:cs typeface="Arial" pitchFamily="34" charset="-120"/>
              </a:rPr>
              <a:t>hours a month, about 7.5 full-time equivalents back with customers</a:t>
            </a:r>
            <a:endParaRPr lang="en-US" sz="1600" dirty="0"/>
          </a:p>
        </p:txBody>
      </p:sp>
      <p:sp>
        <p:nvSpPr>
          <p:cNvPr id="9" name="Value note"/>
          <p:cNvSpPr txBox="1"/>
          <p:nvPr/>
        </p:nvSpPr>
        <p:spPr>
          <a:xfrm>
            <a:off x="1097280" y="5029200"/>
            <a:ext cx="4754880" cy="502920"/>
          </a:xfrm>
          <a:prstGeom prst="rect">
            <a:avLst/>
          </a:prstGeom>
          <a:noFill/>
          <a:ln/>
        </p:spPr>
        <p:txBody>
          <a:bodyPr wrap="square" lIns="0" tIns="0" rIns="0" bIns="0" rtlCol="0" anchor="t"/>
          <a:lstStyle/>
          <a:p>
            <a:pPr indent="0" marL="0">
              <a:buNone/>
            </a:pPr>
            <a:r>
              <a:rPr lang="en-US" sz="1300" i="1" dirty="0">
                <a:solidFill>
                  <a:schemeClr val="tx2"/>
                </a:solidFill>
                <a:latin typeface="Arial" pitchFamily="34" charset="0"/>
                <a:ea typeface="Arial" pitchFamily="34" charset="-122"/>
                <a:cs typeface="Arial" pitchFamily="34" charset="-120"/>
              </a:rPr>
              <a:t>An example, not a forecast. The pilot replaces each input with a measured one.</a:t>
            </a:r>
            <a:endParaRPr lang="en-US" sz="1300" dirty="0"/>
          </a:p>
        </p:txBody>
      </p:sp>
      <p:sp>
        <p:nvSpPr>
          <p:cNvPr id="10" name="Cost panel"/>
          <p:cNvSpPr/>
          <p:nvPr/>
        </p:nvSpPr>
        <p:spPr>
          <a:xfrm>
            <a:off x="6446520" y="1691640"/>
            <a:ext cx="5013655" cy="3977640"/>
          </a:xfrm>
          <a:prstGeom prst="roundRect">
            <a:avLst>
              <a:gd name="adj" fmla="val 2299"/>
            </a:avLst>
          </a:prstGeom>
          <a:solidFill>
            <a:schemeClr val="bg2"/>
          </a:solidFill>
          <a:ln/>
          <a:effectLst>
            <a:outerShdw sx="100000" sy="100000" kx="0" ky="0" algn="bl" rotWithShape="0" blurRad="177800" dist="38100" dir="5400000">
              <a:srgbClr val="000000">
                <a:alpha val="10000"/>
              </a:srgbClr>
            </a:outerShdw>
          </a:effectLst>
        </p:spPr>
      </p:sp>
      <p:sp>
        <p:nvSpPr>
          <p:cNvPr id="11" name="Cost label"/>
          <p:cNvSpPr txBox="1"/>
          <p:nvPr/>
        </p:nvSpPr>
        <p:spPr>
          <a:xfrm>
            <a:off x="6812280" y="1920240"/>
            <a:ext cx="3657600" cy="365760"/>
          </a:xfrm>
          <a:prstGeom prst="rect">
            <a:avLst/>
          </a:prstGeom>
          <a:noFill/>
          <a:ln/>
        </p:spPr>
        <p:txBody>
          <a:bodyPr wrap="square" lIns="0" tIns="0" rIns="0" bIns="0" rtlCol="0" anchor="ctr"/>
          <a:lstStyle/>
          <a:p>
            <a:pPr indent="0" marL="0">
              <a:buNone/>
            </a:pPr>
            <a:r>
              <a:rPr lang="en-US" sz="1400" b="1" dirty="0">
                <a:solidFill>
                  <a:schemeClr val="tx2"/>
                </a:solidFill>
                <a:latin typeface="Arial" pitchFamily="34" charset="0"/>
                <a:ea typeface="Arial" pitchFamily="34" charset="-122"/>
                <a:cs typeface="Arial" pitchFamily="34" charset="-120"/>
              </a:rPr>
              <a:t>What it costs</a:t>
            </a:r>
            <a:endParaRPr lang="en-US" sz="1400" dirty="0"/>
          </a:p>
        </p:txBody>
      </p:sp>
      <p:sp>
        <p:nvSpPr>
          <p:cNvPr id="12" name="Cost SGD 0.35 – 0.60"/>
          <p:cNvSpPr txBox="1"/>
          <p:nvPr/>
        </p:nvSpPr>
        <p:spPr>
          <a:xfrm>
            <a:off x="6812280" y="2377440"/>
            <a:ext cx="4282135" cy="502920"/>
          </a:xfrm>
          <a:prstGeom prst="rect">
            <a:avLst/>
          </a:prstGeom>
          <a:noFill/>
          <a:ln/>
        </p:spPr>
        <p:txBody>
          <a:bodyPr wrap="square" lIns="0" tIns="0" rIns="0" bIns="0" rtlCol="0" anchor="ctr"/>
          <a:lstStyle/>
          <a:p>
            <a:pPr indent="0" marL="0">
              <a:buNone/>
            </a:pPr>
            <a:r>
              <a:rPr lang="en-US" sz="2800" b="1" dirty="0">
                <a:solidFill>
                  <a:schemeClr val="tx1"/>
                </a:solidFill>
                <a:latin typeface="Arial" pitchFamily="34" charset="0"/>
                <a:ea typeface="Arial" pitchFamily="34" charset="-122"/>
                <a:cs typeface="Arial" pitchFamily="34" charset="-120"/>
              </a:rPr>
              <a:t>SGD 0.35 – 0.60</a:t>
            </a:r>
            <a:endParaRPr lang="en-US" sz="2800" dirty="0"/>
          </a:p>
        </p:txBody>
      </p:sp>
      <p:sp>
        <p:nvSpPr>
          <p:cNvPr id="13" name="Cost label SGD 0.35 – 0.60"/>
          <p:cNvSpPr txBox="1"/>
          <p:nvPr/>
        </p:nvSpPr>
        <p:spPr>
          <a:xfrm>
            <a:off x="6812280" y="2880360"/>
            <a:ext cx="4282135" cy="45720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to run one conversation (estimate)</a:t>
            </a:r>
            <a:endParaRPr lang="en-US" sz="1400" dirty="0"/>
          </a:p>
        </p:txBody>
      </p:sp>
      <p:sp>
        <p:nvSpPr>
          <p:cNvPr id="14" name="Cost SGD 240 – 350k"/>
          <p:cNvSpPr txBox="1"/>
          <p:nvPr/>
        </p:nvSpPr>
        <p:spPr>
          <a:xfrm>
            <a:off x="6812280" y="3456432"/>
            <a:ext cx="4282135" cy="502920"/>
          </a:xfrm>
          <a:prstGeom prst="rect">
            <a:avLst/>
          </a:prstGeom>
          <a:noFill/>
          <a:ln/>
        </p:spPr>
        <p:txBody>
          <a:bodyPr wrap="square" lIns="0" tIns="0" rIns="0" bIns="0" rtlCol="0" anchor="ctr"/>
          <a:lstStyle/>
          <a:p>
            <a:pPr indent="0" marL="0">
              <a:buNone/>
            </a:pPr>
            <a:r>
              <a:rPr lang="en-US" sz="2800" b="1" dirty="0">
                <a:solidFill>
                  <a:schemeClr val="tx1"/>
                </a:solidFill>
                <a:latin typeface="Arial" pitchFamily="34" charset="0"/>
                <a:ea typeface="Arial" pitchFamily="34" charset="-122"/>
                <a:cs typeface="Arial" pitchFamily="34" charset="-120"/>
              </a:rPr>
              <a:t>SGD 240 – 350k</a:t>
            </a:r>
            <a:endParaRPr lang="en-US" sz="2800" dirty="0"/>
          </a:p>
        </p:txBody>
      </p:sp>
      <p:sp>
        <p:nvSpPr>
          <p:cNvPr id="15" name="Cost label SGD 240 – 350k"/>
          <p:cNvSpPr txBox="1"/>
          <p:nvPr/>
        </p:nvSpPr>
        <p:spPr>
          <a:xfrm>
            <a:off x="6812280" y="3959352"/>
            <a:ext cx="4282135" cy="45720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four-month proof-of-concept planning range, mostly team time</a:t>
            </a:r>
            <a:endParaRPr lang="en-US" sz="1400" dirty="0"/>
          </a:p>
        </p:txBody>
      </p:sp>
      <p:sp>
        <p:nvSpPr>
          <p:cNvPr id="16" name="Cost SGD 34 – 74k"/>
          <p:cNvSpPr txBox="1"/>
          <p:nvPr/>
        </p:nvSpPr>
        <p:spPr>
          <a:xfrm>
            <a:off x="6812280" y="4535424"/>
            <a:ext cx="4282135" cy="502920"/>
          </a:xfrm>
          <a:prstGeom prst="rect">
            <a:avLst/>
          </a:prstGeom>
          <a:noFill/>
          <a:ln/>
        </p:spPr>
        <p:txBody>
          <a:bodyPr wrap="square" lIns="0" tIns="0" rIns="0" bIns="0" rtlCol="0" anchor="ctr"/>
          <a:lstStyle/>
          <a:p>
            <a:pPr indent="0" marL="0">
              <a:buNone/>
            </a:pPr>
            <a:r>
              <a:rPr lang="en-US" sz="2800" b="1" dirty="0">
                <a:solidFill>
                  <a:schemeClr val="tx1"/>
                </a:solidFill>
                <a:latin typeface="Arial" pitchFamily="34" charset="0"/>
                <a:ea typeface="Arial" pitchFamily="34" charset="-122"/>
                <a:cs typeface="Arial" pitchFamily="34" charset="-120"/>
              </a:rPr>
              <a:t>SGD 34 – 74k</a:t>
            </a:r>
            <a:endParaRPr lang="en-US" sz="2800" dirty="0"/>
          </a:p>
        </p:txBody>
      </p:sp>
      <p:sp>
        <p:nvSpPr>
          <p:cNvPr id="17" name="Cost label SGD 34 – 74k"/>
          <p:cNvSpPr txBox="1"/>
          <p:nvPr/>
        </p:nvSpPr>
        <p:spPr>
          <a:xfrm>
            <a:off x="6812280" y="5038344"/>
            <a:ext cx="4282135" cy="45720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extra cash if the team is existing AIA staff</a:t>
            </a:r>
            <a:endParaRPr lang="en-US" sz="1400" dirty="0"/>
          </a:p>
        </p:txBody>
      </p:sp>
      <p:sp>
        <p:nvSpPr>
          <p:cNvPr id="18" name="Numbers note"/>
          <p:cNvSpPr txBox="1"/>
          <p:nvPr/>
        </p:nvSpPr>
        <p:spPr>
          <a:xfrm>
            <a:off x="731520" y="5852160"/>
            <a:ext cx="8716975" cy="411480"/>
          </a:xfrm>
          <a:prstGeom prst="rect">
            <a:avLst/>
          </a:prstGeom>
          <a:noFill/>
          <a:ln/>
        </p:spPr>
        <p:txBody>
          <a:bodyPr wrap="square" lIns="0" tIns="0" rIns="0" bIns="0" rtlCol="0" anchor="ctr"/>
          <a:lstStyle/>
          <a:p>
            <a:pPr indent="0" marL="0">
              <a:buNone/>
            </a:pPr>
            <a:r>
              <a:rPr lang="en-US" sz="1200" i="1" dirty="0">
                <a:solidFill>
                  <a:schemeClr val="tx2"/>
                </a:solidFill>
                <a:latin typeface="Arial" pitchFamily="34" charset="0"/>
                <a:ea typeface="Arial" pitchFamily="34" charset="-122"/>
                <a:cs typeface="Arial" pitchFamily="34" charset="-120"/>
              </a:rPr>
              <a:t>Planning figures for Finance to confirm. Estimates use public list prices and move with AIA's Azure agreement.</a:t>
            </a:r>
            <a:endParaRPr lang="en-US" sz="1200" dirty="0"/>
          </a:p>
        </p:txBody>
      </p:sp>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E73"/>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1" type="title" hasCustomPrompt="1"/>
          </p:nvPr>
        </p:nvSpPr>
        <p:spPr>
          <a:xfrm>
            <a:off x="731520" y="502920"/>
            <a:ext cx="10728655" cy="12344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Three decisions we need from you</a:t>
            </a:r>
            <a:endParaRPr lang="en-US" sz="3600" dirty="0"/>
          </a:p>
        </p:txBody>
      </p:sp>
      <p:sp>
        <p:nvSpPr>
          <p:cNvPr id="4" name="Shape 1"/>
          <p:cNvSpPr/>
          <p:nvPr/>
        </p:nvSpPr>
        <p:spPr>
          <a:xfrm>
            <a:off x="731520" y="1691640"/>
            <a:ext cx="777240" cy="777240"/>
          </a:xfrm>
          <a:prstGeom prst="ellipse">
            <a:avLst/>
          </a:prstGeom>
          <a:solidFill>
            <a:srgbClr val="D31145"/>
          </a:solidFill>
          <a:ln/>
        </p:spPr>
      </p:sp>
      <p:sp>
        <p:nvSpPr>
          <p:cNvPr id="5" name="Decision 1 number"/>
          <p:cNvSpPr txBox="1"/>
          <p:nvPr/>
        </p:nvSpPr>
        <p:spPr>
          <a:xfrm>
            <a:off x="731520" y="1691640"/>
            <a:ext cx="777240" cy="777240"/>
          </a:xfrm>
          <a:prstGeom prst="rect">
            <a:avLst/>
          </a:prstGeom>
          <a:no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1</a:t>
            </a:r>
            <a:endParaRPr lang="en-US" sz="2800" dirty="0"/>
          </a:p>
        </p:txBody>
      </p:sp>
      <p:sp>
        <p:nvSpPr>
          <p:cNvPr id="6" name="Decision 1"/>
          <p:cNvSpPr txBox="1"/>
          <p:nvPr/>
        </p:nvSpPr>
        <p:spPr>
          <a:xfrm>
            <a:off x="1783080" y="1673352"/>
            <a:ext cx="9144000" cy="45720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Approve a controlled pilot</a:t>
            </a:r>
            <a:endParaRPr lang="en-US" sz="2400" dirty="0"/>
          </a:p>
        </p:txBody>
      </p:sp>
      <p:sp>
        <p:nvSpPr>
          <p:cNvPr id="7" name="Decision 1 detail"/>
          <p:cNvSpPr txBox="1"/>
          <p:nvPr/>
        </p:nvSpPr>
        <p:spPr>
          <a:xfrm>
            <a:off x="1783080" y="2130552"/>
            <a:ext cx="9144000" cy="365760"/>
          </a:xfrm>
          <a:prstGeom prst="rect">
            <a:avLst/>
          </a:prstGeom>
          <a:noFill/>
          <a:ln/>
        </p:spPr>
        <p:txBody>
          <a:bodyPr wrap="square" lIns="0" tIns="0" rIns="0" bIns="0" rtlCol="0" anchor="ctr"/>
          <a:lstStyle/>
          <a:p>
            <a:pPr indent="0" marL="0">
              <a:buNone/>
            </a:pPr>
            <a:r>
              <a:rPr lang="en-US" sz="1600" dirty="0">
                <a:solidFill>
                  <a:schemeClr val="tx2"/>
                </a:solidFill>
                <a:latin typeface="Arial" pitchFamily="34" charset="0"/>
                <a:ea typeface="Arial" pitchFamily="34" charset="-122"/>
                <a:cs typeface="Arial" pitchFamily="34" charset="-120"/>
              </a:rPr>
              <a:t>10 to 20 advisors, measured against a baseline</a:t>
            </a:r>
            <a:endParaRPr lang="en-US" sz="1600" dirty="0"/>
          </a:p>
        </p:txBody>
      </p:sp>
      <p:sp>
        <p:nvSpPr>
          <p:cNvPr id="8" name="Shape 5"/>
          <p:cNvSpPr/>
          <p:nvPr/>
        </p:nvSpPr>
        <p:spPr>
          <a:xfrm>
            <a:off x="731520" y="2770632"/>
            <a:ext cx="777240" cy="777240"/>
          </a:xfrm>
          <a:prstGeom prst="ellipse">
            <a:avLst/>
          </a:prstGeom>
          <a:solidFill>
            <a:srgbClr val="D31145"/>
          </a:solidFill>
          <a:ln/>
        </p:spPr>
      </p:sp>
      <p:sp>
        <p:nvSpPr>
          <p:cNvPr id="9" name="Decision 2 number"/>
          <p:cNvSpPr txBox="1"/>
          <p:nvPr/>
        </p:nvSpPr>
        <p:spPr>
          <a:xfrm>
            <a:off x="731520" y="2770632"/>
            <a:ext cx="777240" cy="777240"/>
          </a:xfrm>
          <a:prstGeom prst="rect">
            <a:avLst/>
          </a:prstGeom>
          <a:no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2</a:t>
            </a:r>
            <a:endParaRPr lang="en-US" sz="2800" dirty="0"/>
          </a:p>
        </p:txBody>
      </p:sp>
      <p:sp>
        <p:nvSpPr>
          <p:cNvPr id="10" name="Decision 2"/>
          <p:cNvSpPr txBox="1"/>
          <p:nvPr/>
        </p:nvSpPr>
        <p:spPr>
          <a:xfrm>
            <a:off x="1783080" y="2752344"/>
            <a:ext cx="9144000" cy="45720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Name the owners</a:t>
            </a:r>
            <a:endParaRPr lang="en-US" sz="2400" dirty="0"/>
          </a:p>
        </p:txBody>
      </p:sp>
      <p:sp>
        <p:nvSpPr>
          <p:cNvPr id="11" name="Decision 2 detail"/>
          <p:cNvSpPr txBox="1"/>
          <p:nvPr/>
        </p:nvSpPr>
        <p:spPr>
          <a:xfrm>
            <a:off x="1783080" y="3209544"/>
            <a:ext cx="9144000" cy="365760"/>
          </a:xfrm>
          <a:prstGeom prst="rect">
            <a:avLst/>
          </a:prstGeom>
          <a:noFill/>
          <a:ln/>
        </p:spPr>
        <p:txBody>
          <a:bodyPr wrap="square" lIns="0" tIns="0" rIns="0" bIns="0" rtlCol="0" anchor="ctr"/>
          <a:lstStyle/>
          <a:p>
            <a:pPr indent="0" marL="0">
              <a:buNone/>
            </a:pPr>
            <a:r>
              <a:rPr lang="en-US" sz="1600" dirty="0">
                <a:solidFill>
                  <a:schemeClr val="tx2"/>
                </a:solidFill>
                <a:latin typeface="Arial" pitchFamily="34" charset="0"/>
                <a:ea typeface="Arial" pitchFamily="34" charset="-122"/>
                <a:cs typeface="Arial" pitchFamily="34" charset="-120"/>
              </a:rPr>
              <a:t>Compliance, Legal, Security and Data Privacy</a:t>
            </a:r>
            <a:endParaRPr lang="en-US" sz="1600" dirty="0"/>
          </a:p>
        </p:txBody>
      </p:sp>
      <p:sp>
        <p:nvSpPr>
          <p:cNvPr id="12" name="Shape 9"/>
          <p:cNvSpPr/>
          <p:nvPr/>
        </p:nvSpPr>
        <p:spPr>
          <a:xfrm>
            <a:off x="731520" y="3849624"/>
            <a:ext cx="777240" cy="777240"/>
          </a:xfrm>
          <a:prstGeom prst="ellipse">
            <a:avLst/>
          </a:prstGeom>
          <a:solidFill>
            <a:srgbClr val="D31145"/>
          </a:solidFill>
          <a:ln/>
        </p:spPr>
      </p:sp>
      <p:sp>
        <p:nvSpPr>
          <p:cNvPr id="13" name="Decision 3 number"/>
          <p:cNvSpPr txBox="1"/>
          <p:nvPr/>
        </p:nvSpPr>
        <p:spPr>
          <a:xfrm>
            <a:off x="731520" y="3849624"/>
            <a:ext cx="777240" cy="777240"/>
          </a:xfrm>
          <a:prstGeom prst="rect">
            <a:avLst/>
          </a:prstGeom>
          <a:no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3</a:t>
            </a:r>
            <a:endParaRPr lang="en-US" sz="2800" dirty="0"/>
          </a:p>
        </p:txBody>
      </p:sp>
      <p:sp>
        <p:nvSpPr>
          <p:cNvPr id="14" name="Decision 3"/>
          <p:cNvSpPr txBox="1"/>
          <p:nvPr/>
        </p:nvSpPr>
        <p:spPr>
          <a:xfrm>
            <a:off x="1783080" y="3831336"/>
            <a:ext cx="9144000" cy="45720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Confirm the environment</a:t>
            </a:r>
            <a:endParaRPr lang="en-US" sz="2400" dirty="0"/>
          </a:p>
        </p:txBody>
      </p:sp>
      <p:sp>
        <p:nvSpPr>
          <p:cNvPr id="15" name="Decision 3 detail"/>
          <p:cNvSpPr txBox="1"/>
          <p:nvPr/>
        </p:nvSpPr>
        <p:spPr>
          <a:xfrm>
            <a:off x="1783080" y="4288536"/>
            <a:ext cx="9144000" cy="365760"/>
          </a:xfrm>
          <a:prstGeom prst="rect">
            <a:avLst/>
          </a:prstGeom>
          <a:noFill/>
          <a:ln/>
        </p:spPr>
        <p:txBody>
          <a:bodyPr wrap="square" lIns="0" tIns="0" rIns="0" bIns="0" rtlCol="0" anchor="ctr"/>
          <a:lstStyle/>
          <a:p>
            <a:pPr indent="0" marL="0">
              <a:buNone/>
            </a:pPr>
            <a:r>
              <a:rPr lang="en-US" sz="1600" dirty="0">
                <a:solidFill>
                  <a:schemeClr val="tx2"/>
                </a:solidFill>
                <a:latin typeface="Arial" pitchFamily="34" charset="0"/>
                <a:ea typeface="Arial" pitchFamily="34" charset="-122"/>
                <a:cs typeface="Arial" pitchFamily="34" charset="-120"/>
              </a:rPr>
              <a:t>The Azure region, and release the advisor group</a:t>
            </a:r>
            <a:endParaRPr lang="en-US" sz="1600" dirty="0"/>
          </a:p>
        </p:txBody>
      </p:sp>
      <p:sp>
        <p:nvSpPr>
          <p:cNvPr id="16" name="Today step"/>
          <p:cNvSpPr/>
          <p:nvPr/>
        </p:nvSpPr>
        <p:spPr>
          <a:xfrm>
            <a:off x="731520" y="5029200"/>
            <a:ext cx="3429000" cy="960120"/>
          </a:xfrm>
          <a:prstGeom prst="chevron">
            <a:avLst/>
          </a:prstGeom>
          <a:solidFill>
            <a:schemeClr val="accent1"/>
          </a:solidFill>
          <a:ln/>
        </p:spPr>
      </p:sp>
      <p:sp>
        <p:nvSpPr>
          <p:cNvPr id="17" name="Today"/>
          <p:cNvSpPr txBox="1"/>
          <p:nvPr/>
        </p:nvSpPr>
        <p:spPr>
          <a:xfrm>
            <a:off x="1188720" y="5138928"/>
            <a:ext cx="2514600" cy="32004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Today</a:t>
            </a:r>
            <a:endParaRPr lang="en-US" sz="1600" dirty="0"/>
          </a:p>
        </p:txBody>
      </p:sp>
      <p:sp>
        <p:nvSpPr>
          <p:cNvPr id="18" name="Today detail"/>
          <p:cNvSpPr txBox="1"/>
          <p:nvPr/>
        </p:nvSpPr>
        <p:spPr>
          <a:xfrm>
            <a:off x="1188720" y="5486400"/>
            <a:ext cx="2514600" cy="365760"/>
          </a:xfrm>
          <a:prstGeom prst="rect">
            <a:avLst/>
          </a:prstGeom>
          <a:noFill/>
          <a:ln/>
        </p:spPr>
        <p:txBody>
          <a:bodyPr wrap="square" lIns="0" tIns="0" rIns="0" bIns="0" rtlCol="0" anchor="ctr"/>
          <a:lstStyle/>
          <a:p>
            <a:pPr indent="0" marL="0">
              <a:buNone/>
            </a:pPr>
            <a:r>
              <a:rPr lang="en-US" sz="1300" dirty="0">
                <a:solidFill>
                  <a:schemeClr val="bg1"/>
                </a:solidFill>
                <a:latin typeface="Arial" pitchFamily="34" charset="0"/>
                <a:ea typeface="Arial" pitchFamily="34" charset="-122"/>
                <a:cs typeface="Arial" pitchFamily="34" charset="-120"/>
              </a:rPr>
              <a:t>A working prototype</a:t>
            </a:r>
            <a:endParaRPr lang="en-US" sz="1300" dirty="0"/>
          </a:p>
        </p:txBody>
      </p:sp>
      <p:sp>
        <p:nvSpPr>
          <p:cNvPr id="19" name="Pilot step"/>
          <p:cNvSpPr/>
          <p:nvPr/>
        </p:nvSpPr>
        <p:spPr>
          <a:xfrm>
            <a:off x="4379976" y="5029200"/>
            <a:ext cx="3429000" cy="960120"/>
          </a:xfrm>
          <a:prstGeom prst="chevron">
            <a:avLst/>
          </a:prstGeom>
          <a:solidFill>
            <a:schemeClr val="bg2"/>
          </a:solidFill>
          <a:ln/>
        </p:spPr>
      </p:sp>
      <p:sp>
        <p:nvSpPr>
          <p:cNvPr id="20" name="Pilot"/>
          <p:cNvSpPr txBox="1"/>
          <p:nvPr/>
        </p:nvSpPr>
        <p:spPr>
          <a:xfrm>
            <a:off x="4837176" y="5138928"/>
            <a:ext cx="2514600" cy="32004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Pilot</a:t>
            </a:r>
            <a:endParaRPr lang="en-US" sz="1600" dirty="0"/>
          </a:p>
        </p:txBody>
      </p:sp>
      <p:sp>
        <p:nvSpPr>
          <p:cNvPr id="21" name="Pilot detail"/>
          <p:cNvSpPr txBox="1"/>
          <p:nvPr/>
        </p:nvSpPr>
        <p:spPr>
          <a:xfrm>
            <a:off x="4837176" y="5486400"/>
            <a:ext cx="2514600" cy="365760"/>
          </a:xfrm>
          <a:prstGeom prst="rect">
            <a:avLst/>
          </a:prstGeom>
          <a:noFill/>
          <a:ln/>
        </p:spPr>
        <p:txBody>
          <a:bodyPr wrap="square" lIns="0" tIns="0" rIns="0" bIns="0" rtlCol="0" anchor="ctr"/>
          <a:lstStyle/>
          <a:p>
            <a:pPr indent="0" marL="0">
              <a:buNone/>
            </a:pPr>
            <a:r>
              <a:rPr lang="en-US" sz="1300" dirty="0">
                <a:solidFill>
                  <a:schemeClr val="tx2"/>
                </a:solidFill>
                <a:latin typeface="Arial" pitchFamily="34" charset="0"/>
                <a:ea typeface="Arial" pitchFamily="34" charset="-122"/>
                <a:cs typeface="Arial" pitchFamily="34" charset="-120"/>
              </a:rPr>
              <a:t>Measure, review, harden</a:t>
            </a:r>
            <a:endParaRPr lang="en-US" sz="1300" dirty="0"/>
          </a:p>
        </p:txBody>
      </p:sp>
      <p:sp>
        <p:nvSpPr>
          <p:cNvPr id="22" name="Next step"/>
          <p:cNvSpPr/>
          <p:nvPr/>
        </p:nvSpPr>
        <p:spPr>
          <a:xfrm>
            <a:off x="8028432" y="5029200"/>
            <a:ext cx="3429000" cy="960120"/>
          </a:xfrm>
          <a:prstGeom prst="chevron">
            <a:avLst/>
          </a:prstGeom>
          <a:solidFill>
            <a:schemeClr val="bg2"/>
          </a:solidFill>
          <a:ln/>
        </p:spPr>
      </p:sp>
      <p:sp>
        <p:nvSpPr>
          <p:cNvPr id="23" name="Next"/>
          <p:cNvSpPr txBox="1"/>
          <p:nvPr/>
        </p:nvSpPr>
        <p:spPr>
          <a:xfrm>
            <a:off x="8485632" y="5138928"/>
            <a:ext cx="2514600" cy="32004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Next</a:t>
            </a:r>
            <a:endParaRPr lang="en-US" sz="1600" dirty="0"/>
          </a:p>
        </p:txBody>
      </p:sp>
      <p:sp>
        <p:nvSpPr>
          <p:cNvPr id="24" name="Next detail"/>
          <p:cNvSpPr txBox="1"/>
          <p:nvPr/>
        </p:nvSpPr>
        <p:spPr>
          <a:xfrm>
            <a:off x="8485632" y="5486400"/>
            <a:ext cx="2514600" cy="365760"/>
          </a:xfrm>
          <a:prstGeom prst="rect">
            <a:avLst/>
          </a:prstGeom>
          <a:noFill/>
          <a:ln/>
        </p:spPr>
        <p:txBody>
          <a:bodyPr wrap="square" lIns="0" tIns="0" rIns="0" bIns="0" rtlCol="0" anchor="ctr"/>
          <a:lstStyle/>
          <a:p>
            <a:pPr indent="0" marL="0">
              <a:buNone/>
            </a:pPr>
            <a:r>
              <a:rPr lang="en-US" sz="1300" dirty="0">
                <a:solidFill>
                  <a:schemeClr val="tx2"/>
                </a:solidFill>
                <a:latin typeface="Arial" pitchFamily="34" charset="0"/>
                <a:ea typeface="Arial" pitchFamily="34" charset="-122"/>
                <a:cs typeface="Arial" pitchFamily="34" charset="-120"/>
              </a:rPr>
              <a:t>CRM, more products and markets</a:t>
            </a:r>
            <a:endParaRPr lang="en-US" sz="1300" dirty="0"/>
          </a:p>
        </p:txBody>
      </p:sp>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E73"/>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ph idx="101" type="title" hasCustomPrompt="1"/>
          </p:nvPr>
        </p:nvSpPr>
        <p:spPr>
          <a:xfrm>
            <a:off x="731520" y="1828800"/>
            <a:ext cx="5852160" cy="1737360"/>
          </a:xfrm>
          <a:prstGeom prst="rect">
            <a:avLst/>
          </a:prstGeom>
          <a:noFill/>
          <a:ln/>
        </p:spPr>
        <p:txBody>
          <a:bodyPr wrap="square" lIns="0" tIns="0" rIns="0" bIns="0" rtlCol="0" anchor="t"/>
          <a:lstStyle/>
          <a:p>
            <a:pPr algn="l" indent="0" marL="0">
              <a:buNone/>
            </a:pPr>
            <a:r>
              <a:rPr lang="en-US" sz="4800" b="1" dirty="0">
                <a:solidFill>
                  <a:schemeClr val="bg1"/>
                </a:solidFill>
                <a:latin typeface="Arial" pitchFamily="34" charset="0"/>
                <a:ea typeface="Arial" pitchFamily="34" charset="-122"/>
                <a:cs typeface="Arial" pitchFamily="34" charset="-120"/>
              </a:rPr>
              <a:t>The best technology disappears</a:t>
            </a:r>
            <a:endParaRPr lang="en-US" sz="4800" dirty="0"/>
          </a:p>
        </p:txBody>
      </p:sp>
      <p:sp>
        <p:nvSpPr>
          <p:cNvPr id="4" name="Closing line"/>
          <p:cNvSpPr txBox="1"/>
          <p:nvPr/>
        </p:nvSpPr>
        <p:spPr>
          <a:xfrm>
            <a:off x="731520" y="3749040"/>
            <a:ext cx="6400800" cy="82296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The advisor shines.</a:t>
            </a:r>
            <a:endParaRPr lang="en-US" sz="4000" dirty="0"/>
          </a:p>
        </p:txBody>
      </p:sp>
      <p:sp>
        <p:nvSpPr>
          <p:cNvPr id="5" name="Tagline"/>
          <p:cNvSpPr txBox="1"/>
          <p:nvPr/>
        </p:nvSpPr>
        <p:spPr>
          <a:xfrm>
            <a:off x="731520" y="4846320"/>
            <a:ext cx="6400800" cy="365760"/>
          </a:xfrm>
          <a:prstGeom prst="rect">
            <a:avLst/>
          </a:prstGeom>
          <a:noFill/>
          <a:ln/>
        </p:spPr>
        <p:txBody>
          <a:bodyPr wrap="square" lIns="0" tIns="0" rIns="0" bIns="0" rtlCol="0" anchor="ctr"/>
          <a:lstStyle/>
          <a:p>
            <a:pPr indent="0" marL="0">
              <a:buNone/>
            </a:pPr>
            <a:r>
              <a:rPr lang="en-US" sz="1800" dirty="0">
                <a:solidFill>
                  <a:srgbClr val="A1A1A6"/>
                </a:solidFill>
                <a:latin typeface="Arial" pitchFamily="34" charset="0"/>
                <a:ea typeface="Arial" pitchFamily="34" charset="-122"/>
                <a:cs typeface="Arial" pitchFamily="34" charset="-120"/>
              </a:rPr>
              <a:t>Capture   ·   Analyse   ·   Equip</a:t>
            </a:r>
            <a:endParaRPr lang="en-US" sz="1800" dirty="0"/>
          </a:p>
        </p:txBody>
      </p:sp>
      <p:pic>
        <p:nvPicPr>
          <p:cNvPr id="6" name="Juno avatar" descr="Juno, the Voice Insights assistant">    </p:cNvPr>
          <p:cNvPicPr>
            <a:picLocks noChangeAspect="1"/>
          </p:cNvPicPr>
          <p:nvPr/>
        </p:nvPicPr>
        <p:blipFill>
          <a:blip r:embed="rId1"/>
          <a:stretch>
            <a:fillRect/>
          </a:stretch>
        </p:blipFill>
        <p:spPr>
          <a:xfrm>
            <a:off x="7589520" y="1417320"/>
            <a:ext cx="3566160" cy="3566160"/>
          </a:xfrm>
          <a:prstGeom prst="ellipse">
            <a:avLst/>
          </a:prstGeom>
        </p:spPr>
      </p:pic>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1A1A6"/>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ph idx="101" type="title" hasCustomPrompt="1"/>
          </p:nvPr>
        </p:nvSpPr>
        <p:spPr>
          <a:xfrm>
            <a:off x="731520" y="502920"/>
            <a:ext cx="10728655" cy="12344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Appendix: risks and how they are handled</a:t>
            </a:r>
            <a:endParaRPr lang="en-US" sz="3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10728655" cy="914400"/>
        </p:xfrm>
        <a:graphic>
          <a:graphicData uri="http://schemas.openxmlformats.org/drawingml/2006/table">
            <a:tbl>
              <a:tblPr/>
              <a:tblGrid>
                <a:gridCol w="3291840"/>
                <a:gridCol w="1371600"/>
                <a:gridCol w="6065215"/>
              </a:tblGrid>
              <a:tr h="566928">
                <a:tc>
                  <a:txBody>
                    <a:bodyPr/>
                    <a:lstStyle/>
                    <a:p>
                      <a:pPr indent="0" marL="0">
                        <a:buNone/>
                      </a:pPr>
                      <a:r>
                        <a:rPr lang="en-US" sz="1400" b="1" dirty="0">
                          <a:solidFill>
                            <a:schemeClr val="bg1"/>
                          </a:solidFill>
                          <a:latin typeface="Arial" pitchFamily="34" charset="0"/>
                          <a:ea typeface="Arial" pitchFamily="34" charset="-122"/>
                          <a:cs typeface="Arial" pitchFamily="34" charset="-120"/>
                        </a:rPr>
                        <a:t>Risk</a:t>
                      </a:r>
                      <a:endParaRPr lang="en-US" sz="1400" dirty="0">
                        <a:latin typeface="Arial" charset="0"/>
                        <a:ea typeface="Arial" charset="0"/>
                        <a:cs typeface="Arial" charset="0"/>
                      </a:endParaRPr>
                    </a:p>
                  </a:txBody>
                  <a:tcPr marL="91440" marR="91440" marT="45720" marB="45720" anchor="ctr">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Level</a:t>
                      </a:r>
                      <a:endParaRPr lang="en-US" sz="1400" dirty="0">
                        <a:latin typeface="Arial" charset="0"/>
                        <a:ea typeface="Arial" charset="0"/>
                        <a:cs typeface="Arial" charset="0"/>
                      </a:endParaRPr>
                    </a:p>
                  </a:txBody>
                  <a:tcPr marL="91440" marR="91440" marT="45720" marB="45720" anchor="ctr">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How it is handled</a:t>
                      </a:r>
                      <a:endParaRPr lang="en-US" sz="1400" dirty="0">
                        <a:latin typeface="Arial" charset="0"/>
                        <a:ea typeface="Arial" charset="0"/>
                        <a:cs typeface="Arial" charset="0"/>
                      </a:endParaRPr>
                    </a:p>
                  </a:txBody>
                  <a:tcPr marL="91440" marR="91440" marT="45720" marB="45720" anchor="ctr">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solidFill>
                      <a:schemeClr val="accent1"/>
                    </a:solidFill>
                  </a:tcPr>
                </a:tc>
              </a:tr>
              <a:tr h="566928">
                <a:tc>
                  <a:txBody>
                    <a:bodyPr/>
                    <a:lstStyle/>
                    <a:p>
                      <a:pPr indent="0" marL="0">
                        <a:buNone/>
                      </a:pPr>
                      <a:r>
                        <a:rPr lang="en-US" sz="1400" dirty="0">
                          <a:solidFill>
                            <a:schemeClr val="tx1"/>
                          </a:solidFill>
                          <a:latin typeface="Arial" pitchFamily="34" charset="0"/>
                          <a:ea typeface="Arial" pitchFamily="34" charset="-122"/>
                          <a:cs typeface="Arial" pitchFamily="34" charset="-120"/>
                        </a:rPr>
                        <a:t>Non-compliant output (a price, a guarantee)</a:t>
                      </a:r>
                      <a:endParaRPr lang="en-US" sz="1400" dirty="0">
                        <a:latin typeface="Arial" charset="0"/>
                        <a:ea typeface="Arial" charset="0"/>
                        <a:cs typeface="Arial" charset="0"/>
                      </a:endParaRPr>
                    </a:p>
                  </a:txBody>
                  <a:tcPr marL="91440" marR="91440" marT="45720" marB="45720" anchor="t">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Lower now</a:t>
                      </a:r>
                      <a:endParaRPr lang="en-US" sz="1400" dirty="0">
                        <a:latin typeface="Arial" charset="0"/>
                        <a:ea typeface="Arial" charset="0"/>
                        <a:cs typeface="Arial" charset="0"/>
                      </a:endParaRPr>
                    </a:p>
                  </a:txBody>
                  <a:tcPr marL="91440" marR="91440" marT="45720" marB="45720" anchor="t">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Juno speaks only to the advisor; scripted test pack; Compliance review before any pilot; every output reviewable</a:t>
                      </a:r>
                      <a:endParaRPr lang="en-US" sz="1400" dirty="0">
                        <a:latin typeface="Arial" charset="0"/>
                        <a:ea typeface="Arial" charset="0"/>
                        <a:cs typeface="Arial" charset="0"/>
                      </a:endParaRPr>
                    </a:p>
                  </a:txBody>
                  <a:tcPr marL="91440" marR="91440" marT="45720" marB="45720" anchor="t">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tcPr>
                </a:tc>
              </a:tr>
              <a:tr h="566928">
                <a:tc>
                  <a:txBody>
                    <a:bodyPr/>
                    <a:lstStyle/>
                    <a:p>
                      <a:pPr indent="0" marL="0">
                        <a:buNone/>
                      </a:pPr>
                      <a:r>
                        <a:rPr lang="en-US" sz="1400" dirty="0">
                          <a:solidFill>
                            <a:schemeClr val="tx1"/>
                          </a:solidFill>
                          <a:latin typeface="Arial" pitchFamily="34" charset="0"/>
                          <a:ea typeface="Arial" pitchFamily="34" charset="-122"/>
                          <a:cs typeface="Arial" pitchFamily="34" charset="-120"/>
                        </a:rPr>
                        <a:t>Personal data and consent (PDPA)</a:t>
                      </a:r>
                      <a:endParaRPr lang="en-US" sz="1400" dirty="0">
                        <a:latin typeface="Arial" charset="0"/>
                        <a:ea typeface="Arial" charset="0"/>
                        <a:cs typeface="Arial" charset="0"/>
                      </a:endParaRPr>
                    </a:p>
                  </a:txBody>
                  <a:tcPr marL="91440" marR="91440" marT="45720" marB="45720" anchor="t">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High</a:t>
                      </a:r>
                      <a:endParaRPr lang="en-US" sz="1400" dirty="0">
                        <a:latin typeface="Arial" charset="0"/>
                        <a:ea typeface="Arial" charset="0"/>
                        <a:cs typeface="Arial" charset="0"/>
                      </a:endParaRPr>
                    </a:p>
                  </a:txBody>
                  <a:tcPr marL="91440" marR="91440" marT="45720" marB="45720" anchor="t">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Privacy assessment, retention rules and advisor-side consent practice agreed with Data Privacy first</a:t>
                      </a:r>
                      <a:endParaRPr lang="en-US" sz="1400" dirty="0">
                        <a:latin typeface="Arial" charset="0"/>
                        <a:ea typeface="Arial" charset="0"/>
                        <a:cs typeface="Arial" charset="0"/>
                      </a:endParaRPr>
                    </a:p>
                  </a:txBody>
                  <a:tcPr marL="91440" marR="91440" marT="45720" marB="45720" anchor="t">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tcPr>
                </a:tc>
              </a:tr>
              <a:tr h="566928">
                <a:tc>
                  <a:txBody>
                    <a:bodyPr/>
                    <a:lstStyle/>
                    <a:p>
                      <a:pPr indent="0" marL="0">
                        <a:buNone/>
                      </a:pPr>
                      <a:r>
                        <a:rPr lang="en-US" sz="1400" dirty="0">
                          <a:solidFill>
                            <a:schemeClr val="tx1"/>
                          </a:solidFill>
                          <a:latin typeface="Arial" pitchFamily="34" charset="0"/>
                          <a:ea typeface="Arial" pitchFamily="34" charset="-122"/>
                          <a:cs typeface="Arial" pitchFamily="34" charset="-120"/>
                        </a:rPr>
                        <a:t>Names and accents misheard</a:t>
                      </a:r>
                      <a:endParaRPr lang="en-US" sz="1400" dirty="0">
                        <a:latin typeface="Arial" charset="0"/>
                        <a:ea typeface="Arial" charset="0"/>
                        <a:cs typeface="Arial" charset="0"/>
                      </a:endParaRPr>
                    </a:p>
                  </a:txBody>
                  <a:tcPr marL="91440" marR="91440" marT="45720" marB="45720" anchor="t">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Medium</a:t>
                      </a:r>
                      <a:endParaRPr lang="en-US" sz="1400" dirty="0">
                        <a:latin typeface="Arial" charset="0"/>
                        <a:ea typeface="Arial" charset="0"/>
                        <a:cs typeface="Arial" charset="0"/>
                      </a:endParaRPr>
                    </a:p>
                  </a:txBody>
                  <a:tcPr marL="91440" marR="91440" marT="45720" marB="45720" anchor="t">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Every fact confirmed on screen; native-speaker testing for Mandarin, Malay and Tamil</a:t>
                      </a:r>
                      <a:endParaRPr lang="en-US" sz="1400" dirty="0">
                        <a:latin typeface="Arial" charset="0"/>
                        <a:ea typeface="Arial" charset="0"/>
                        <a:cs typeface="Arial" charset="0"/>
                      </a:endParaRPr>
                    </a:p>
                  </a:txBody>
                  <a:tcPr marL="91440" marR="91440" marT="45720" marB="45720" anchor="t">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tcPr>
                </a:tc>
              </a:tr>
              <a:tr h="566928">
                <a:tc>
                  <a:txBody>
                    <a:bodyPr/>
                    <a:lstStyle/>
                    <a:p>
                      <a:pPr indent="0" marL="0">
                        <a:buNone/>
                      </a:pPr>
                      <a:r>
                        <a:rPr lang="en-US" sz="1400" dirty="0">
                          <a:solidFill>
                            <a:schemeClr val="tx1"/>
                          </a:solidFill>
                          <a:latin typeface="Arial" pitchFamily="34" charset="0"/>
                          <a:ea typeface="Arial" pitchFamily="34" charset="-122"/>
                          <a:cs typeface="Arial" pitchFamily="34" charset="-120"/>
                        </a:rPr>
                        <a:t>Slower than dictating</a:t>
                      </a:r>
                      <a:endParaRPr lang="en-US" sz="1400" dirty="0">
                        <a:latin typeface="Arial" charset="0"/>
                        <a:ea typeface="Arial" charset="0"/>
                        <a:cs typeface="Arial" charset="0"/>
                      </a:endParaRPr>
                    </a:p>
                  </a:txBody>
                  <a:tcPr marL="91440" marR="91440" marT="45720" marB="45720" anchor="t">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Medium</a:t>
                      </a:r>
                      <a:endParaRPr lang="en-US" sz="1400" dirty="0">
                        <a:latin typeface="Arial" charset="0"/>
                        <a:ea typeface="Arial" charset="0"/>
                        <a:cs typeface="Arial" charset="0"/>
                      </a:endParaRPr>
                    </a:p>
                  </a:txBody>
                  <a:tcPr marL="91440" marR="91440" marT="45720" marB="45720" anchor="t">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At most five questions, always skippable; the pilot compares both modes on time and completeness</a:t>
                      </a:r>
                      <a:endParaRPr lang="en-US" sz="1400" dirty="0">
                        <a:latin typeface="Arial" charset="0"/>
                        <a:ea typeface="Arial" charset="0"/>
                        <a:cs typeface="Arial" charset="0"/>
                      </a:endParaRPr>
                    </a:p>
                  </a:txBody>
                  <a:tcPr marL="91440" marR="91440" marT="45720" marB="45720" anchor="t">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tcPr>
                </a:tc>
              </a:tr>
              <a:tr h="566928">
                <a:tc>
                  <a:txBody>
                    <a:bodyPr/>
                    <a:lstStyle/>
                    <a:p>
                      <a:pPr indent="0" marL="0">
                        <a:buNone/>
                      </a:pPr>
                      <a:r>
                        <a:rPr lang="en-US" sz="1400" dirty="0">
                          <a:solidFill>
                            <a:schemeClr val="tx1"/>
                          </a:solidFill>
                          <a:latin typeface="Arial" pitchFamily="34" charset="0"/>
                          <a:ea typeface="Arial" pitchFamily="34" charset="-122"/>
                          <a:cs typeface="Arial" pitchFamily="34" charset="-120"/>
                        </a:rPr>
                        <a:t>Azure capacity or stalls at pilot load</a:t>
                      </a:r>
                      <a:endParaRPr lang="en-US" sz="1400" dirty="0">
                        <a:latin typeface="Arial" charset="0"/>
                        <a:ea typeface="Arial" charset="0"/>
                        <a:cs typeface="Arial" charset="0"/>
                      </a:endParaRPr>
                    </a:p>
                  </a:txBody>
                  <a:tcPr marL="91440" marR="91440" marT="45720" marB="45720" anchor="t">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Medium</a:t>
                      </a:r>
                      <a:endParaRPr lang="en-US" sz="1400" dirty="0">
                        <a:latin typeface="Arial" charset="0"/>
                        <a:ea typeface="Arial" charset="0"/>
                        <a:cs typeface="Arial" charset="0"/>
                      </a:endParaRPr>
                    </a:p>
                  </a:txBody>
                  <a:tcPr marL="91440" marR="91440" marT="45720" marB="45720" anchor="t">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Request quota early; automatic retries and a second attempt on slow calls; fallback voice</a:t>
                      </a:r>
                      <a:endParaRPr lang="en-US" sz="1400" dirty="0">
                        <a:latin typeface="Arial" charset="0"/>
                        <a:ea typeface="Arial" charset="0"/>
                        <a:cs typeface="Arial" charset="0"/>
                      </a:endParaRPr>
                    </a:p>
                  </a:txBody>
                  <a:tcPr marL="91440" marR="91440" marT="45720" marB="45720" anchor="t">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tcPr>
                </a:tc>
              </a:tr>
              <a:tr h="566928">
                <a:tc>
                  <a:txBody>
                    <a:bodyPr/>
                    <a:lstStyle/>
                    <a:p>
                      <a:pPr indent="0" marL="0">
                        <a:buNone/>
                      </a:pPr>
                      <a:r>
                        <a:rPr lang="en-US" sz="1400" dirty="0">
                          <a:solidFill>
                            <a:schemeClr val="tx1"/>
                          </a:solidFill>
                          <a:latin typeface="Arial" pitchFamily="34" charset="0"/>
                          <a:ea typeface="Arial" pitchFamily="34" charset="-122"/>
                          <a:cs typeface="Arial" pitchFamily="34" charset="-120"/>
                        </a:rPr>
                        <a:t>Advisors do not adopt it</a:t>
                      </a:r>
                      <a:endParaRPr lang="en-US" sz="1400" dirty="0">
                        <a:latin typeface="Arial" charset="0"/>
                        <a:ea typeface="Arial" charset="0"/>
                        <a:cs typeface="Arial" charset="0"/>
                      </a:endParaRPr>
                    </a:p>
                  </a:txBody>
                  <a:tcPr marL="91440" marR="91440" marT="45720" marB="45720" anchor="t">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Medium</a:t>
                      </a:r>
                      <a:endParaRPr lang="en-US" sz="1400" dirty="0">
                        <a:latin typeface="Arial" charset="0"/>
                        <a:ea typeface="Arial" charset="0"/>
                        <a:cs typeface="Arial" charset="0"/>
                      </a:endParaRPr>
                    </a:p>
                  </a:txBody>
                  <a:tcPr marL="91440" marR="91440" marT="45720" marB="45720" anchor="t">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Involve advisors from the start; measure time saved with them; the advisor stays the decision-maker</a:t>
                      </a:r>
                      <a:endParaRPr lang="en-US" sz="1400" dirty="0">
                        <a:latin typeface="Arial" charset="0"/>
                        <a:ea typeface="Arial" charset="0"/>
                        <a:cs typeface="Arial" charset="0"/>
                      </a:endParaRPr>
                    </a:p>
                  </a:txBody>
                  <a:tcPr marL="91440" marR="91440" marT="45720" marB="45720" anchor="t">
                    <a:lnL w="9525" cap="flat" cmpd="sng" algn="ctr">
                      <a:solidFill>
                        <a:srgbClr val="E3E3E8"/>
                      </a:solidFill>
                      <a:prstDash val="solid"/>
                      <a:round/>
                      <a:headEnd type="none" w="med" len="med"/>
                      <a:tailEnd type="none" w="med" len="med"/>
                    </a:lnL>
                    <a:lnR w="9525" cap="flat" cmpd="sng" algn="ctr">
                      <a:solidFill>
                        <a:srgbClr val="E3E3E8"/>
                      </a:solidFill>
                      <a:prstDash val="solid"/>
                      <a:round/>
                      <a:headEnd type="none" w="med" len="med"/>
                      <a:tailEnd type="none" w="med" len="med"/>
                    </a:lnR>
                    <a:lnT w="9525" cap="flat" cmpd="sng" algn="ctr">
                      <a:solidFill>
                        <a:srgbClr val="E3E3E8"/>
                      </a:solidFill>
                      <a:prstDash val="solid"/>
                      <a:round/>
                      <a:headEnd type="none" w="med" len="med"/>
                      <a:tailEnd type="none" w="med" len="med"/>
                    </a:lnT>
                    <a:lnB w="9525" cap="flat" cmpd="sng" algn="ctr">
                      <a:solidFill>
                        <a:srgbClr val="E3E3E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E73"/>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ph idx="101" type="title" hasCustomPrompt="1"/>
          </p:nvPr>
        </p:nvSpPr>
        <p:spPr>
          <a:xfrm>
            <a:off x="731520" y="502920"/>
            <a:ext cx="10728655" cy="12344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Appendix: where we are, exactly</a:t>
            </a:r>
            <a:endParaRPr lang="en-US" sz="3600" dirty="0"/>
          </a:p>
        </p:txBody>
      </p:sp>
      <p:sp>
        <p:nvSpPr>
          <p:cNvPr id="4" name="Built and demonstrated panel"/>
          <p:cNvSpPr/>
          <p:nvPr/>
        </p:nvSpPr>
        <p:spPr>
          <a:xfrm>
            <a:off x="731520" y="1417320"/>
            <a:ext cx="3429000" cy="4526280"/>
          </a:xfrm>
          <a:prstGeom prst="roundRect">
            <a:avLst>
              <a:gd name="adj" fmla="val 2667"/>
            </a:avLst>
          </a:prstGeom>
          <a:solidFill>
            <a:schemeClr val="bg2"/>
          </a:solidFill>
          <a:ln/>
          <a:effectLst>
            <a:outerShdw sx="100000" sy="100000" kx="0" ky="0" algn="bl" rotWithShape="0" blurRad="177800" dist="38100" dir="5400000">
              <a:srgbClr val="000000">
                <a:alpha val="10000"/>
              </a:srgbClr>
            </a:outerShdw>
          </a:effectLst>
        </p:spPr>
      </p:sp>
      <p:sp>
        <p:nvSpPr>
          <p:cNvPr id="5" name="Built and demonstrated"/>
          <p:cNvSpPr txBox="1"/>
          <p:nvPr/>
        </p:nvSpPr>
        <p:spPr>
          <a:xfrm>
            <a:off x="1005840" y="1645920"/>
            <a:ext cx="2880360" cy="411480"/>
          </a:xfrm>
          <a:prstGeom prst="rect">
            <a:avLst/>
          </a:prstGeom>
          <a:noFill/>
          <a:ln/>
        </p:spPr>
        <p:txBody>
          <a:bodyPr wrap="square" lIns="0" tIns="0" rIns="0" bIns="0" rtlCol="0" anchor="ctr"/>
          <a:lstStyle/>
          <a:p>
            <a:pPr indent="0" marL="0">
              <a:buNone/>
            </a:pPr>
            <a:r>
              <a:rPr lang="en-US" sz="1800" b="1" dirty="0">
                <a:solidFill>
                  <a:schemeClr val="accent3"/>
                </a:solidFill>
                <a:latin typeface="Arial" pitchFamily="34" charset="0"/>
                <a:ea typeface="Arial" pitchFamily="34" charset="-122"/>
                <a:cs typeface="Arial" pitchFamily="34" charset="-120"/>
              </a:rPr>
              <a:t>Built and demonstrated</a:t>
            </a:r>
            <a:endParaRPr lang="en-US" sz="1800" dirty="0"/>
          </a:p>
        </p:txBody>
      </p:sp>
      <p:sp>
        <p:nvSpPr>
          <p:cNvPr id="6" name="Built and demonstrated list"/>
          <p:cNvSpPr txBox="1"/>
          <p:nvPr/>
        </p:nvSpPr>
        <p:spPr>
          <a:xfrm>
            <a:off x="1005840" y="2194560"/>
            <a:ext cx="288036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Three ways to capture a conversation</a:t>
            </a:r>
            <a:endParaRPr lang="en-US" sz="1400" dirty="0"/>
          </a:p>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Juno debrief with the fact-find ledger</a:t>
            </a:r>
            <a:endParaRPr lang="en-US" sz="1400" dirty="0"/>
          </a:p>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Sign-off screen and follow-up drafts in four languages</a:t>
            </a:r>
            <a:endParaRPr lang="en-US" sz="1400" dirty="0"/>
          </a:p>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Dress Rehearsal</a:t>
            </a:r>
            <a:endParaRPr lang="en-US" sz="1400" dirty="0"/>
          </a:p>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11-agent analysis and advice pack</a:t>
            </a:r>
            <a:endParaRPr lang="en-US" sz="1400" dirty="0"/>
          </a:p>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Admin dashboard</a:t>
            </a:r>
            <a:endParaRPr lang="en-US" sz="1400" dirty="0"/>
          </a:p>
        </p:txBody>
      </p:sp>
      <p:sp>
        <p:nvSpPr>
          <p:cNvPr id="7" name="Tested so far panel"/>
          <p:cNvSpPr/>
          <p:nvPr/>
        </p:nvSpPr>
        <p:spPr>
          <a:xfrm>
            <a:off x="4379976" y="1417320"/>
            <a:ext cx="3429000" cy="4526280"/>
          </a:xfrm>
          <a:prstGeom prst="roundRect">
            <a:avLst>
              <a:gd name="adj" fmla="val 2667"/>
            </a:avLst>
          </a:prstGeom>
          <a:solidFill>
            <a:schemeClr val="bg2"/>
          </a:solidFill>
          <a:ln/>
          <a:effectLst>
            <a:outerShdw sx="100000" sy="100000" kx="0" ky="0" algn="bl" rotWithShape="0" blurRad="177800" dist="38100" dir="5400000">
              <a:srgbClr val="000000">
                <a:alpha val="10000"/>
              </a:srgbClr>
            </a:outerShdw>
          </a:effectLst>
        </p:spPr>
      </p:sp>
      <p:sp>
        <p:nvSpPr>
          <p:cNvPr id="8" name="Tested so far"/>
          <p:cNvSpPr txBox="1"/>
          <p:nvPr/>
        </p:nvSpPr>
        <p:spPr>
          <a:xfrm>
            <a:off x="4654296" y="1645920"/>
            <a:ext cx="2880360" cy="411480"/>
          </a:xfrm>
          <a:prstGeom prst="rect">
            <a:avLst/>
          </a:prstGeom>
          <a:noFill/>
          <a:ln/>
        </p:spPr>
        <p:txBody>
          <a:bodyPr wrap="square" lIns="0" tIns="0" rIns="0" bIns="0" rtlCol="0" anchor="ctr"/>
          <a:lstStyle/>
          <a:p>
            <a:pPr indent="0" marL="0">
              <a:buNone/>
            </a:pPr>
            <a:r>
              <a:rPr lang="en-US" sz="1800" b="1" dirty="0">
                <a:solidFill>
                  <a:schemeClr val="accent6"/>
                </a:solidFill>
                <a:latin typeface="Arial" pitchFamily="34" charset="0"/>
                <a:ea typeface="Arial" pitchFamily="34" charset="-122"/>
                <a:cs typeface="Arial" pitchFamily="34" charset="-120"/>
              </a:rPr>
              <a:t>Tested so far</a:t>
            </a:r>
            <a:endParaRPr lang="en-US" sz="1800" dirty="0"/>
          </a:p>
        </p:txBody>
      </p:sp>
      <p:sp>
        <p:nvSpPr>
          <p:cNvPr id="9" name="Tested so far list"/>
          <p:cNvSpPr txBox="1"/>
          <p:nvPr/>
        </p:nvSpPr>
        <p:spPr>
          <a:xfrm>
            <a:off x="4654296" y="2194560"/>
            <a:ext cx="288036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Scripted spoken debriefs and rehearsals</a:t>
            </a:r>
            <a:endParaRPr lang="en-US" sz="1400" dirty="0"/>
          </a:p>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English, synthetic voice</a:t>
            </a:r>
            <a:endParaRPr lang="en-US" sz="1400" dirty="0"/>
          </a:p>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A prototype test, not a pilot</a:t>
            </a:r>
            <a:endParaRPr lang="en-US" sz="1400" dirty="0"/>
          </a:p>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Replies take a few seconds; slower in a noisy room</a:t>
            </a:r>
            <a:endParaRPr lang="en-US" sz="1400" dirty="0"/>
          </a:p>
        </p:txBody>
      </p:sp>
      <p:sp>
        <p:nvSpPr>
          <p:cNvPr id="10" name="Not yet done panel"/>
          <p:cNvSpPr/>
          <p:nvPr/>
        </p:nvSpPr>
        <p:spPr>
          <a:xfrm>
            <a:off x="8028432" y="1417320"/>
            <a:ext cx="3429000" cy="4526280"/>
          </a:xfrm>
          <a:prstGeom prst="roundRect">
            <a:avLst>
              <a:gd name="adj" fmla="val 2667"/>
            </a:avLst>
          </a:prstGeom>
          <a:solidFill>
            <a:schemeClr val="bg2"/>
          </a:solidFill>
          <a:ln/>
          <a:effectLst>
            <a:outerShdw sx="100000" sy="100000" kx="0" ky="0" algn="bl" rotWithShape="0" blurRad="177800" dist="38100" dir="5400000">
              <a:srgbClr val="000000">
                <a:alpha val="10000"/>
              </a:srgbClr>
            </a:outerShdw>
          </a:effectLst>
        </p:spPr>
      </p:sp>
      <p:sp>
        <p:nvSpPr>
          <p:cNvPr id="11" name="Not yet done"/>
          <p:cNvSpPr txBox="1"/>
          <p:nvPr/>
        </p:nvSpPr>
        <p:spPr>
          <a:xfrm>
            <a:off x="8302752" y="1645920"/>
            <a:ext cx="2880360" cy="411480"/>
          </a:xfrm>
          <a:prstGeom prst="rect">
            <a:avLst/>
          </a:prstGeom>
          <a:noFill/>
          <a:ln/>
        </p:spPr>
        <p:txBody>
          <a:bodyPr wrap="square" lIns="0" tIns="0" rIns="0" bIns="0" rtlCol="0" anchor="ctr"/>
          <a:lstStyle/>
          <a:p>
            <a:pPr indent="0" marL="0">
              <a:buNone/>
            </a:pPr>
            <a:r>
              <a:rPr lang="en-US" sz="1800" b="1" dirty="0">
                <a:solidFill>
                  <a:schemeClr val="accent4"/>
                </a:solidFill>
                <a:latin typeface="Arial" pitchFamily="34" charset="0"/>
                <a:ea typeface="Arial" pitchFamily="34" charset="-122"/>
                <a:cs typeface="Arial" pitchFamily="34" charset="-120"/>
              </a:rPr>
              <a:t>Not yet done</a:t>
            </a:r>
            <a:endParaRPr lang="en-US" sz="1800" dirty="0"/>
          </a:p>
        </p:txBody>
      </p:sp>
      <p:sp>
        <p:nvSpPr>
          <p:cNvPr id="12" name="Not yet done list"/>
          <p:cNvSpPr txBox="1"/>
          <p:nvPr/>
        </p:nvSpPr>
        <p:spPr>
          <a:xfrm>
            <a:off x="8302752" y="2194560"/>
            <a:ext cx="288036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Testing with real advisors</a:t>
            </a:r>
            <a:endParaRPr lang="en-US" sz="1400" dirty="0"/>
          </a:p>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Native-speaker review: Mandarin, Malay, Tamil</a:t>
            </a:r>
            <a:endParaRPr lang="en-US" sz="1400" dirty="0"/>
          </a:p>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Formal Compliance, Security and privacy review</a:t>
            </a:r>
            <a:endParaRPr lang="en-US" sz="1400" dirty="0"/>
          </a:p>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CRM write-back</a:t>
            </a:r>
            <a:endParaRPr lang="en-US" sz="1400" dirty="0"/>
          </a:p>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Measured time savings</a:t>
            </a:r>
            <a:endParaRPr lang="en-US" sz="1400" dirty="0"/>
          </a:p>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Load testing</a:t>
            </a:r>
            <a:endParaRPr lang="en-US" sz="1400" dirty="0"/>
          </a:p>
        </p:txBody>
      </p:sp>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E73"/>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ph idx="101" type="title" hasCustomPrompt="1"/>
          </p:nvPr>
        </p:nvSpPr>
        <p:spPr>
          <a:xfrm>
            <a:off x="731520" y="502920"/>
            <a:ext cx="10728655" cy="12344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Appendix: likely questions</a:t>
            </a:r>
            <a:endParaRPr lang="en-US" sz="3600" dirty="0"/>
          </a:p>
        </p:txBody>
      </p:sp>
      <p:sp>
        <p:nvSpPr>
          <p:cNvPr id="4" name="Is this &quot;advice&quot; under MAS rules? card"/>
          <p:cNvSpPr/>
          <p:nvPr/>
        </p:nvSpPr>
        <p:spPr>
          <a:xfrm>
            <a:off x="731520" y="1463040"/>
            <a:ext cx="5257800" cy="2057400"/>
          </a:xfrm>
          <a:prstGeom prst="roundRect">
            <a:avLst>
              <a:gd name="adj" fmla="val 4444"/>
            </a:avLst>
          </a:prstGeom>
          <a:solidFill>
            <a:schemeClr val="bg2"/>
          </a:solidFill>
          <a:ln/>
          <a:effectLst>
            <a:outerShdw sx="100000" sy="100000" kx="0" ky="0" algn="bl" rotWithShape="0" blurRad="177800" dist="38100" dir="5400000">
              <a:srgbClr val="000000">
                <a:alpha val="10000"/>
              </a:srgbClr>
            </a:outerShdw>
          </a:effectLst>
        </p:spPr>
      </p:sp>
      <p:sp>
        <p:nvSpPr>
          <p:cNvPr id="5" name="Is this &amp;quot;advice&amp;quot; under MAS rules?"/>
          <p:cNvSpPr txBox="1"/>
          <p:nvPr/>
        </p:nvSpPr>
        <p:spPr>
          <a:xfrm>
            <a:off x="1005840" y="1691640"/>
            <a:ext cx="4709160" cy="457200"/>
          </a:xfrm>
          <a:prstGeom prst="rect">
            <a:avLst/>
          </a:prstGeom>
          <a:noFill/>
          <a:ln/>
        </p:spPr>
        <p:txBody>
          <a:bodyPr wrap="square" lIns="0" tIns="0" rIns="0" bIns="0" rtlCol="0" anchor="t"/>
          <a:lstStyle/>
          <a:p>
            <a:pPr indent="0" marL="0">
              <a:buNone/>
            </a:pPr>
            <a:r>
              <a:rPr lang="en-US" sz="1700" b="1" dirty="0">
                <a:solidFill>
                  <a:schemeClr val="accent1"/>
                </a:solidFill>
                <a:latin typeface="Arial" pitchFamily="34" charset="0"/>
                <a:ea typeface="Arial" pitchFamily="34" charset="-122"/>
                <a:cs typeface="Arial" pitchFamily="34" charset="-120"/>
              </a:rPr>
              <a:t>Is this "advice" under MAS rules?</a:t>
            </a:r>
            <a:endParaRPr lang="en-US" sz="1700" dirty="0"/>
          </a:p>
        </p:txBody>
      </p:sp>
      <p:sp>
        <p:nvSpPr>
          <p:cNvPr id="6" name="Is this &amp;quot;advice&amp;quot; under MAS rules? answer"/>
          <p:cNvSpPr txBox="1"/>
          <p:nvPr/>
        </p:nvSpPr>
        <p:spPr>
          <a:xfrm>
            <a:off x="1005840" y="2240280"/>
            <a:ext cx="4709160" cy="114300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No. It produces suggestions for the advisor to review; the advisor decides. Compliance should still review it formally.</a:t>
            </a:r>
            <a:endParaRPr lang="en-US" sz="1400" dirty="0"/>
          </a:p>
        </p:txBody>
      </p:sp>
      <p:sp>
        <p:nvSpPr>
          <p:cNvPr id="7" name="Can it make things up? card"/>
          <p:cNvSpPr/>
          <p:nvPr/>
        </p:nvSpPr>
        <p:spPr>
          <a:xfrm>
            <a:off x="6217920" y="1463040"/>
            <a:ext cx="5257800" cy="2057400"/>
          </a:xfrm>
          <a:prstGeom prst="roundRect">
            <a:avLst>
              <a:gd name="adj" fmla="val 4444"/>
            </a:avLst>
          </a:prstGeom>
          <a:solidFill>
            <a:schemeClr val="bg2"/>
          </a:solidFill>
          <a:ln/>
          <a:effectLst>
            <a:outerShdw sx="100000" sy="100000" kx="0" ky="0" algn="bl" rotWithShape="0" blurRad="177800" dist="38100" dir="5400000">
              <a:srgbClr val="000000">
                <a:alpha val="10000"/>
              </a:srgbClr>
            </a:outerShdw>
          </a:effectLst>
        </p:spPr>
      </p:sp>
      <p:sp>
        <p:nvSpPr>
          <p:cNvPr id="8" name="Can it make things up?"/>
          <p:cNvSpPr txBox="1"/>
          <p:nvPr/>
        </p:nvSpPr>
        <p:spPr>
          <a:xfrm>
            <a:off x="6492240" y="1691640"/>
            <a:ext cx="4709160" cy="457200"/>
          </a:xfrm>
          <a:prstGeom prst="rect">
            <a:avLst/>
          </a:prstGeom>
          <a:noFill/>
          <a:ln/>
        </p:spPr>
        <p:txBody>
          <a:bodyPr wrap="square" lIns="0" tIns="0" rIns="0" bIns="0" rtlCol="0" anchor="t"/>
          <a:lstStyle/>
          <a:p>
            <a:pPr indent="0" marL="0">
              <a:buNone/>
            </a:pPr>
            <a:r>
              <a:rPr lang="en-US" sz="1700" b="1" dirty="0">
                <a:solidFill>
                  <a:schemeClr val="accent1"/>
                </a:solidFill>
                <a:latin typeface="Arial" pitchFamily="34" charset="0"/>
                <a:ea typeface="Arial" pitchFamily="34" charset="-122"/>
                <a:cs typeface="Arial" pitchFamily="34" charset="-120"/>
              </a:rPr>
              <a:t>Can it make things up?</a:t>
            </a:r>
            <a:endParaRPr lang="en-US" sz="1700" dirty="0"/>
          </a:p>
        </p:txBody>
      </p:sp>
      <p:sp>
        <p:nvSpPr>
          <p:cNvPr id="9" name="Can it make things up? answer"/>
          <p:cNvSpPr txBox="1"/>
          <p:nvPr/>
        </p:nvSpPr>
        <p:spPr>
          <a:xfrm>
            <a:off x="6492240" y="2240280"/>
            <a:ext cx="4709160" cy="114300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It is limited to the customer file and our product documents. Statements without a source are marked. A pilot-grade control.</a:t>
            </a:r>
            <a:endParaRPr lang="en-US" sz="1400" dirty="0"/>
          </a:p>
        </p:txBody>
      </p:sp>
      <p:sp>
        <p:nvSpPr>
          <p:cNvPr id="10" name="What is the business value? card"/>
          <p:cNvSpPr/>
          <p:nvPr/>
        </p:nvSpPr>
        <p:spPr>
          <a:xfrm>
            <a:off x="731520" y="3703320"/>
            <a:ext cx="5257800" cy="2057400"/>
          </a:xfrm>
          <a:prstGeom prst="roundRect">
            <a:avLst>
              <a:gd name="adj" fmla="val 4444"/>
            </a:avLst>
          </a:prstGeom>
          <a:solidFill>
            <a:schemeClr val="bg2"/>
          </a:solidFill>
          <a:ln/>
          <a:effectLst>
            <a:outerShdw sx="100000" sy="100000" kx="0" ky="0" algn="bl" rotWithShape="0" blurRad="177800" dist="38100" dir="5400000">
              <a:srgbClr val="000000">
                <a:alpha val="10000"/>
              </a:srgbClr>
            </a:outerShdw>
          </a:effectLst>
        </p:spPr>
      </p:sp>
      <p:sp>
        <p:nvSpPr>
          <p:cNvPr id="11" name="What is the business value?"/>
          <p:cNvSpPr txBox="1"/>
          <p:nvPr/>
        </p:nvSpPr>
        <p:spPr>
          <a:xfrm>
            <a:off x="1005840" y="3931920"/>
            <a:ext cx="4709160" cy="457200"/>
          </a:xfrm>
          <a:prstGeom prst="rect">
            <a:avLst/>
          </a:prstGeom>
          <a:noFill/>
          <a:ln/>
        </p:spPr>
        <p:txBody>
          <a:bodyPr wrap="square" lIns="0" tIns="0" rIns="0" bIns="0" rtlCol="0" anchor="t"/>
          <a:lstStyle/>
          <a:p>
            <a:pPr indent="0" marL="0">
              <a:buNone/>
            </a:pPr>
            <a:r>
              <a:rPr lang="en-US" sz="1700" b="1" dirty="0">
                <a:solidFill>
                  <a:schemeClr val="accent1"/>
                </a:solidFill>
                <a:latin typeface="Arial" pitchFamily="34" charset="0"/>
                <a:ea typeface="Arial" pitchFamily="34" charset="-122"/>
                <a:cs typeface="Arial" pitchFamily="34" charset="-120"/>
              </a:rPr>
              <a:t>What is the business value?</a:t>
            </a:r>
            <a:endParaRPr lang="en-US" sz="1700" dirty="0"/>
          </a:p>
        </p:txBody>
      </p:sp>
      <p:sp>
        <p:nvSpPr>
          <p:cNvPr id="12" name="What is the business value? answer"/>
          <p:cNvSpPr txBox="1"/>
          <p:nvPr/>
        </p:nvSpPr>
        <p:spPr>
          <a:xfrm>
            <a:off x="1005840" y="4480560"/>
            <a:ext cx="4709160" cy="114300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Not measured yet. I would not quote a number today. The pilot measures it.</a:t>
            </a:r>
            <a:endParaRPr lang="en-US" sz="1400" dirty="0"/>
          </a:p>
        </p:txBody>
      </p:sp>
      <p:sp>
        <p:nvSpPr>
          <p:cNvPr id="13" name="Why not a general chatbot? card"/>
          <p:cNvSpPr/>
          <p:nvPr/>
        </p:nvSpPr>
        <p:spPr>
          <a:xfrm>
            <a:off x="6217920" y="3703320"/>
            <a:ext cx="5257800" cy="2057400"/>
          </a:xfrm>
          <a:prstGeom prst="roundRect">
            <a:avLst>
              <a:gd name="adj" fmla="val 4444"/>
            </a:avLst>
          </a:prstGeom>
          <a:solidFill>
            <a:schemeClr val="bg2"/>
          </a:solidFill>
          <a:ln/>
          <a:effectLst>
            <a:outerShdw sx="100000" sy="100000" kx="0" ky="0" algn="bl" rotWithShape="0" blurRad="177800" dist="38100" dir="5400000">
              <a:srgbClr val="000000">
                <a:alpha val="10000"/>
              </a:srgbClr>
            </a:outerShdw>
          </a:effectLst>
        </p:spPr>
      </p:sp>
      <p:sp>
        <p:nvSpPr>
          <p:cNvPr id="14" name="Why not a general chatbot?"/>
          <p:cNvSpPr txBox="1"/>
          <p:nvPr/>
        </p:nvSpPr>
        <p:spPr>
          <a:xfrm>
            <a:off x="6492240" y="3931920"/>
            <a:ext cx="4709160" cy="457200"/>
          </a:xfrm>
          <a:prstGeom prst="rect">
            <a:avLst/>
          </a:prstGeom>
          <a:noFill/>
          <a:ln/>
        </p:spPr>
        <p:txBody>
          <a:bodyPr wrap="square" lIns="0" tIns="0" rIns="0" bIns="0" rtlCol="0" anchor="t"/>
          <a:lstStyle/>
          <a:p>
            <a:pPr indent="0" marL="0">
              <a:buNone/>
            </a:pPr>
            <a:r>
              <a:rPr lang="en-US" sz="1700" b="1" dirty="0">
                <a:solidFill>
                  <a:schemeClr val="accent1"/>
                </a:solidFill>
                <a:latin typeface="Arial" pitchFamily="34" charset="0"/>
                <a:ea typeface="Arial" pitchFamily="34" charset="-122"/>
                <a:cs typeface="Arial" pitchFamily="34" charset="-120"/>
              </a:rPr>
              <a:t>Why not a general chatbot?</a:t>
            </a:r>
            <a:endParaRPr lang="en-US" sz="1700" dirty="0"/>
          </a:p>
        </p:txBody>
      </p:sp>
      <p:sp>
        <p:nvSpPr>
          <p:cNvPr id="15" name="Why not a general chatbot? answer"/>
          <p:cNvSpPr txBox="1"/>
          <p:nvPr/>
        </p:nvSpPr>
        <p:spPr>
          <a:xfrm>
            <a:off x="6492240" y="4480560"/>
            <a:ext cx="4709160" cy="114300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It is not tied to our customer file or product documents, shows no sources, and does not produce our paperwork.</a:t>
            </a:r>
            <a:endParaRPr lang="en-US" sz="1400" dirty="0"/>
          </a:p>
        </p:txBody>
      </p:sp>
      <p:sp>
        <p:nvSpPr>
          <p:cNvPr id="25" name="Slide Number Placeholder 0"/>
          <p:cNvSpPr>
            <a:spLocks noGrp="1"/>
          </p:cNvSpPr>
          <p:nvPr>
            <p:ph type="sldNum" sz="quarter" idx="4294967295"/>
          </p:nvPr>
        </p:nvSpPr>
        <p:spPr>
          <a:xfrm>
            <a:off x="10911535" y="632764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E73"/>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IA Voice Insights">
  <a:themeElements>
    <a:clrScheme name="AIA Voice Insights">
      <a:dk1>
        <a:srgbClr val="1D1D1F"/>
      </a:dk1>
      <a:lt1>
        <a:srgbClr val="FFFFFF"/>
      </a:lt1>
      <a:dk2>
        <a:srgbClr val="6E6E73"/>
      </a:dk2>
      <a:lt2>
        <a:srgbClr val="F5F5F7"/>
      </a:lt2>
      <a:accent1>
        <a:srgbClr val="D31145"/>
      </a:accent1>
      <a:accent2>
        <a:srgbClr val="9C0C34"/>
      </a:accent2>
      <a:accent3>
        <a:srgbClr val="1BAF7A"/>
      </a:accent3>
      <a:accent4>
        <a:srgbClr val="D68C14"/>
      </a:accent4>
      <a:accent5>
        <a:srgbClr val="7B4FD6"/>
      </a:accent5>
      <a:accent6>
        <a:srgbClr val="3B82C4"/>
      </a:accent6>
      <a:hlink>
        <a:srgbClr val="D31145"/>
      </a:hlink>
      <a:folHlink>
        <a:srgbClr val="9C0C34"/>
      </a:folHlink>
    </a:clrScheme>
    <a:fontScheme name="AIA Voice Insight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AIA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 Voice Insights: board briefing</dc:title>
  <dc:subject>PptxGenJS Presentation</dc:subject>
  <dc:creator>AIA Voice Insights</dc:creator>
  <cp:lastModifiedBy>AIA Voice Insights</cp:lastModifiedBy>
  <cp:revision>1</cp:revision>
  <dcterms:created xsi:type="dcterms:W3CDTF">2026-10-16T14:51:26Z</dcterms:created>
  <dcterms:modified xsi:type="dcterms:W3CDTF">2026-10-16T14:51:26Z</dcterms:modified>
</cp:coreProperties>
</file>