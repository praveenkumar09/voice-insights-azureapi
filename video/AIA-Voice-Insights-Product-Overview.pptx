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Juno. Here's AIA Voice Insights, in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is the easy part. Then come notes, fact-finds and follow-ups, typed from memory, late and uneven. Risks surface weeks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it your way: dictate after the meeting, listen live, or let me debrief you, in English, Mandarin, Malay or Tamil. No re-typing, and every customer served in their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debrief, I say what I understood and ask up to five short questions about gaps. A live meter tracks twenty-six fact-find fields, and risky promises are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customer, I follow needs, mood and buying signals, suggest the next best question, and flag risky statements as they're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specialist agents then analyse the case in thirty to forty seconds, grounded in product documents. Only a person can start the analysis, and every result is a suggestion.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advice pack is drafted for you: fact-find, record of advice, follow-up, CRM note and report. You edit and sign off. Nothing is sent without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me why a product was picked, or what if there's one more child. The sums are done by code, not by the AI, and the working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Hey Juno to go hands-free: open screens, press buttons, hear a briefing or the full report, and say stop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next meeting, rehearse. I play your customer from your own debrief, then coach what landed and what you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built for trust: ID and card numbers are never stored, weak speech is filtered out, and Juno suggests while you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impact: advisors get time back to sell, customers get faster follow-up, compliance is caught early, and leaders see one view across the agency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Premiums are up thirty-six percent, yet seventy-four percent of critical illness cover is missing. Six hours back per rep is about seventy-four thousand hours a month,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prove it together. Just say, Hey Juno.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3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75500" y="1714500"/>
            <a:ext cx="4572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JUNO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75500" y="2032000"/>
            <a:ext cx="4572000" cy="2095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conversation, </a:t>
            </a:r>
            <a:pPr indent="0" marL="0">
              <a:buNone/>
            </a:pPr>
            <a:r>
              <a:rPr lang="en-US" sz="54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175500" y="4191000"/>
            <a:ext cx="4572000" cy="825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Voice Insights: listen, understand, draft, advise. The advisor stays in charge.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advice gets lost in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c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lost after every meeting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fact-finds and records typed by hand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messag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uneven follow-up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wait, and language needs are served unevenly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aler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found late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risky promise surfaces in a file review, weeks on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cha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view for leaders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picture of volume, quality or needs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ale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trust and risk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crowds out selling, and quality depends on one person's memory.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conversation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mic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meeting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Dictate a summary; it is structured and checked for gaps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users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customer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listening, mood, needs and the next best question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sparkle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with Juno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Dictate, then Juno checks the gaps and reads back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glob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languages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Mandarin, Malay, Tamil, and mixed speech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re-typing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capture once, and every customer is served in the language they prefer.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WITH JUNO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lost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analysis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mic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Dictate freely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Juno listens and never interrupts a pause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search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five short questions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about what is missing or unclear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gauge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fact-find meter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fields counted as the advisor answers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ale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catch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promise or guarantee is raised before it is filed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missed needs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complete fact-find, and safer advice, from the first debrief.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WITH THE CUSTOMER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in the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heart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Needs, mood and buying signals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picture of the customer as they speak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users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map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Dependants, goals and concerns, in the customer's words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target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question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while the meeting is still going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ale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statements flagged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as they are said, not weeks later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conversations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discovery and compliance caught in the moment.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TEAM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agents, one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suggestion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bolt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 40 seconds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conversation to a full suggestion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boo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product documents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Reasons, concerns and citations you can check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shield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 built in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is screened before it is shown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check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starts it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advisor's own click starts the analysis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explainable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quality of suggestion for every advisor, in seconds.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PACK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paperwork is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file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Fact-find and record of advice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from the conversation, gaps marked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messag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message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WhatsApp draft in the customer's language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users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note and next meeting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and an agenda, ready to use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fil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report and proposal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internal briefing and a customer-friendly page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Evenings back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review drafts instead of re-typing, and nothing is sent without them.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JUNO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ask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search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a product picked?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this customer's file and the documents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refresh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something changes?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child: dependants 3 to 4, run again in seconds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calc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 done by code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figures with the working shown, never guessed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mic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or type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discussion is saved with the suggestion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every suggestion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can explain the reasoning to the customer, and test changes live.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 JUNO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across the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app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mic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“Hey Juno”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screen or press any button by voice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play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me, or read the report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90-second briefing or the full report, read aloud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stop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pause, next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 any reading in your own words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shield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before it changes anything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Saving, sending or removing needs a clear yes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anywhere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meetings or with busy hands, and a gain for accessibility.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REHEARSAL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meeting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happens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headphones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Juno briefs you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under a minute, on the customer and the goal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users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Juno plays the customer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your own debrief, spoken aloud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flag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Coach's notes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landed, what you missed, promises to reword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lock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only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saved or sent to the real customer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and confidence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at scale, without taking a manager's time.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design,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control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0100" y="2082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1844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2400" y="19558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default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and card numbers are never stored or shown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609600" y="28448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00100" y="3022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3" name="Image 2" descr="/Users/praveenkumarthangaraj/Documents/CobaltIngestion/voice-insights-azureapi/video/source-v3/pptx-assets/filter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3124200"/>
            <a:ext cx="254000" cy="254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2400" y="28956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speech filtered out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and made-up words are discarded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609600" y="37846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0100" y="39624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7" name="Image 3" descr="/Users/praveenkumarthangaraj/Documents/CobaltIngestion/voice-insights-azureapi/video/source-v3/pptx-assets/check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064000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2400" y="38354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Juno suggests, you decide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prices quoted, nothing sent, no auto-approval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09600" y="4724400"/>
            <a:ext cx="6921500" cy="812800"/>
          </a:xfrm>
          <a:prstGeom prst="roundRect">
            <a:avLst>
              <a:gd name="adj" fmla="val 20250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00100" y="4902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1" name="Image 4" descr="/Users/praveenkumarthangaraj/Documents/CobaltIngestion/voice-insights-azureapi/video/source-v3/pptx-assets/globe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50038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22400" y="4775200"/>
            <a:ext cx="59690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Mixed-language accuracy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5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stay in the language they were spoken in</a:t>
            </a:r>
            <a:endParaRPr lang="en-US" sz="2000" dirty="0"/>
          </a:p>
        </p:txBody>
      </p:sp>
      <p:pic>
        <p:nvPicPr>
          <p:cNvPr id="23" name="Image 5" descr="/Users/praveenkumarthangaraj/Documents/CobaltIngestion/voice-insights-azureapi/video/source-v3/pptx-assets/imp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0" y="1905000"/>
            <a:ext cx="3644900" cy="3632200"/>
          </a:xfrm>
          <a:prstGeom prst="rect">
            <a:avLst/>
          </a:prstGeom>
        </p:spPr>
      </p:pic>
      <p:pic>
        <p:nvPicPr>
          <p:cNvPr id="24" name="Image 6" descr="/Users/praveenkumarthangaraj/Documents/CobaltIngestion/voice-insights-azureapi/video/source-v3/pptx-assets/cha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2171700"/>
            <a:ext cx="279400" cy="279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204200" y="2527300"/>
            <a:ext cx="31115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204200" y="2768600"/>
            <a:ext cx="3111500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scale</a:t>
            </a:r>
            <a:endParaRPr lang="en-US" sz="3200" dirty="0"/>
          </a:p>
        </p:txBody>
      </p:sp>
      <p:sp>
        <p:nvSpPr>
          <p:cNvPr id="27" name="Text 17"/>
          <p:cNvSpPr/>
          <p:nvPr/>
        </p:nvSpPr>
        <p:spPr>
          <a:xfrm>
            <a:off x="8204200" y="3975100"/>
            <a:ext cx="3111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and audit trail that compliance and leaders expect.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THE BUSINESS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</a:t>
            </a:r>
            <a:pPr indent="0" marL="0">
              <a:buNone/>
            </a:pPr>
            <a:r>
              <a:rPr lang="en-US" sz="40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chain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3600" y="21336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9" name="Image 1" descr="/Users/praveenkumarthangaraj/Documents/CobaltIngestion/voice-insights-azureapi/video/source-v3/pptx-assets/c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2247900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3600" y="26924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863600" y="30480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back to sell; review drafts, don't re-type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842000" y="19050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096000" y="21336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4" name="Image 2" descr="/Users/praveenkumarthangaraj/Documents/CobaltIngestion/voice-insights-azureapi/video/source-v3/pptx-assets/message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247900"/>
            <a:ext cx="254000" cy="254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6000" y="26924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2600" dirty="0"/>
          </a:p>
        </p:txBody>
      </p:sp>
      <p:sp>
        <p:nvSpPr>
          <p:cNvPr id="16" name="Text 10"/>
          <p:cNvSpPr/>
          <p:nvPr/>
        </p:nvSpPr>
        <p:spPr>
          <a:xfrm>
            <a:off x="6096000" y="30480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follow-up in their own language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09600" y="37846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63600" y="40132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19" name="Image 3" descr="/Users/praveenkumarthangaraj/Documents/CobaltIngestion/voice-insights-azureapi/video/source-v3/pptx-assets/shield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4127500"/>
            <a:ext cx="254000" cy="254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3600" y="45720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600" dirty="0"/>
          </a:p>
        </p:txBody>
      </p:sp>
      <p:sp>
        <p:nvSpPr>
          <p:cNvPr id="21" name="Text 14"/>
          <p:cNvSpPr/>
          <p:nvPr/>
        </p:nvSpPr>
        <p:spPr>
          <a:xfrm>
            <a:off x="863600" y="49276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caught in the moment, not weeks later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842000" y="3784600"/>
            <a:ext cx="5054600" cy="1714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BD3D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096000" y="4013200"/>
            <a:ext cx="482600" cy="482600"/>
          </a:xfrm>
          <a:prstGeom prst="roundRect">
            <a:avLst>
              <a:gd name="adj" fmla="val 28421"/>
            </a:avLst>
          </a:prstGeom>
          <a:solidFill>
            <a:srgbClr val="FCE8EE"/>
          </a:solidFill>
          <a:ln w="12700">
            <a:solidFill>
              <a:srgbClr val="FCE8EE"/>
            </a:solidFill>
            <a:prstDash val="solid"/>
          </a:ln>
        </p:spPr>
      </p:sp>
      <p:pic>
        <p:nvPicPr>
          <p:cNvPr id="24" name="Image 4" descr="/Users/praveenkumarthangaraj/Documents/CobaltIngestion/voice-insights-azureapi/video/source-v3/pptx-assets/char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127500"/>
            <a:ext cx="254000" cy="2540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96000" y="4572000"/>
            <a:ext cx="45466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6096000" y="4927600"/>
            <a:ext cx="454660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view of volume, quality and needs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546100"/>
            <a:ext cx="8890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09600" y="787400"/>
            <a:ext cx="99060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4000" b="1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 the table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09600" y="1905000"/>
            <a:ext cx="3556000" cy="3175000"/>
          </a:xfrm>
          <a:prstGeom prst="roundRect">
            <a:avLst>
              <a:gd name="adj" fmla="val 63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89000" y="2184400"/>
            <a:ext cx="30480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889000" y="3302000"/>
            <a:ext cx="3048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 premiums are up (LIA 2025 and H1 2026 results)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368800" y="1905000"/>
            <a:ext cx="3556000" cy="3175000"/>
          </a:xfrm>
          <a:prstGeom prst="roundRect">
            <a:avLst>
              <a:gd name="adj" fmla="val 63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48200" y="2184400"/>
            <a:ext cx="30480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12" name="Text 8"/>
          <p:cNvSpPr/>
          <p:nvPr/>
        </p:nvSpPr>
        <p:spPr>
          <a:xfrm>
            <a:off x="4648200" y="3302000"/>
            <a:ext cx="3048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critical illness cover is still missing (protection gap)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28000" y="1905000"/>
            <a:ext cx="3556000" cy="3175000"/>
          </a:xfrm>
          <a:prstGeom prst="roundRect">
            <a:avLst>
              <a:gd name="adj" fmla="val 633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07400" y="2184400"/>
            <a:ext cx="30480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74,000</a:t>
            </a:r>
            <a:endParaRPr lang="en-US" sz="6400" dirty="0"/>
          </a:p>
        </p:txBody>
      </p:sp>
      <p:sp>
        <p:nvSpPr>
          <p:cNvPr id="15" name="Text 11"/>
          <p:cNvSpPr/>
          <p:nvPr/>
        </p:nvSpPr>
        <p:spPr>
          <a:xfrm>
            <a:off x="8407400" y="3302000"/>
            <a:ext cx="3048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 month back: six hours per rep, an illustration to prove with AIA's own numbers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09600" y="5270500"/>
            <a:ext cx="10795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LIA 2025 and H1 2026 results; LIA 2022 protection gap study. The 74,000 hours figure is an illustration, to be proven with AIA's own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praveenkumarthangaraj/Documents/CobaltIngestion/voice-insights-azureapi/video/source-v3/v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190500"/>
            <a:ext cx="292100" cy="292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6600" y="152400"/>
            <a:ext cx="342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3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 </a:t>
            </a:r>
            <a:pPr algn="r" indent="0" marL="0">
              <a:buNone/>
            </a:pPr>
            <a:r>
              <a:rPr lang="en-US" sz="15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INSIGHTS</a:t>
            </a:r>
            <a:endParaRPr lang="en-US" sz="1500" dirty="0"/>
          </a:p>
        </p:txBody>
      </p:sp>
      <p:pic>
        <p:nvPicPr>
          <p:cNvPr id="5" name="Image 1" descr="/Users/praveenkumarthangaraj/Documents/CobaltIngestion/voice-insights-azureapi/video/source-v3/juno-masc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587500"/>
            <a:ext cx="4826000" cy="37443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50000" y="1587500"/>
            <a:ext cx="5207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PROVE IT TOGETHER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350000" y="1905000"/>
            <a:ext cx="5207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say, </a:t>
            </a:r>
            <a:pPr indent="0" marL="0">
              <a:buNone/>
            </a:pPr>
            <a:r>
              <a:rPr lang="en-US" sz="6200" b="1" dirty="0">
                <a:solidFill>
                  <a:srgbClr val="FF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“Hey Juno.”</a:t>
            </a:r>
            <a:endParaRPr lang="en-US" sz="6200" dirty="0"/>
          </a:p>
        </p:txBody>
      </p:sp>
      <p:sp>
        <p:nvSpPr>
          <p:cNvPr id="8" name="Text 3"/>
          <p:cNvSpPr/>
          <p:nvPr/>
        </p:nvSpPr>
        <p:spPr>
          <a:xfrm>
            <a:off x="6350000" y="3937000"/>
            <a:ext cx="5207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Voice Insights · a proof of concept for AIA Singapore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AIA Voice Insights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 Voice Insights: product overview</dc:title>
  <dc:subject>PptxGenJS Presentation</dc:subject>
  <dc:creator>AIA Voice Insights</dc:creator>
  <cp:lastModifiedBy>AIA Voice Insights</cp:lastModifiedBy>
  <cp:revision>1</cp:revision>
  <dcterms:created xsi:type="dcterms:W3CDTF">2026-10-27T13:48:10Z</dcterms:created>
  <dcterms:modified xsi:type="dcterms:W3CDTF">2026-10-27T13:48:10Z</dcterms:modified>
</cp:coreProperties>
</file>